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f2579fe1-e527-2750-b46d-765b9a717519}">
          <p14:sldIdLst>
            <p14:sldId id="256"/>
          </p14:sldIdLst>
        </p14:section>
        <p14:section name="Recommendation" id="{4a2ddb1c-9589-be72-655b-fef6fa63f5c7}">
          <p14:sldIdLst>
            <p14:sldId id="258"/>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your team name. This deck goes to Nimbus Dynamics' management: lead with the decision and the reasoning, not the technical detail.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Management should be able to decide from the box at the top alone. Fill in the empty cells of the table. Which models did you compare, which did you choose and why? How did you split the data to test them? What information went into your forecast? Where in the notebook? The chart is in Step 1.3; WAPE, bias and the seasonal naive WAPE are in the comparison table in Step 1.2; planned production and takt come from Part 2; each month's lower bound is in the line report in Step 3.2.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Delete the rows of the table you don't use. State the load of the busiest station and show that the line works in all three months. Where in the notebook? The table comes from the station table in the line report in Step 3.2 (longest product time = the largest of the three product columns); today's line is in Step 3.1; the lower bound, the busiest station and the three months are in the line report; the rules are in your check_rules function.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Ece's question: what would make you change your mind? Cost both options. Where in the notebook? The costs, the prebuild units and the spare capacity of both options are in the cell in Part 4: STATION_COST_Q1_EUR, PREBUILD_COST_EUR, PREBUILD_UNITS, STATION_SPARE_UNITS, PREBUILD_SPARE_UNITS. For the risks and what would change your mind, reread Ece's email.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743200"/>
            <a:ext cx="8046720" cy="91440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2"/>
                </a:solidFill>
              </a:rPr>
              <a:t>Data on the Line · KoçDigital analytics team</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cover_background" descr="image2.jpe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1143000" y="2286000"/>
            <a:ext cx="7223760" cy="822960"/>
          </a:xfrm>
          <a:prstGeom prst="rect">
            <a:avLst/>
          </a:prstGeom>
          <a:noFill/>
          <a:ln/>
        </p:spPr>
        <p:txBody>
          <a:bodyPr wrap="square" lIns="0" tIns="0" rIns="0" bIns="0" rtlCol="0" anchor="b"/>
          <a:lstStyle/>
          <a:p>
            <a:pPr algn="l" indent="0" marL="0">
              <a:buNone/>
            </a:pPr>
            <a:r>
              <a:rPr lang="en-US" sz="3800" b="1" dirty="0">
                <a:solidFill>
                  <a:srgbClr val="FFFFFF"/>
                </a:solidFill>
              </a:rPr>
              <a:t>Data on the Line</a:t>
            </a:r>
            <a:endParaRPr lang="en-US" sz="3800" dirty="0"/>
          </a:p>
        </p:txBody>
      </p:sp>
      <p:sp>
        <p:nvSpPr>
          <p:cNvPr id="3" name="Text 0"/>
          <p:cNvSpPr/>
          <p:nvPr>
            <p:ph idx="101" type="body" hasCustomPrompt="1"/>
          </p:nvPr>
        </p:nvSpPr>
        <p:spPr>
          <a:xfrm>
            <a:off x="1143000" y="3063240"/>
            <a:ext cx="7223760" cy="548640"/>
          </a:xfrm>
          <a:prstGeom prst="rect">
            <a:avLst/>
          </a:prstGeom>
          <a:noFill/>
          <a:ln/>
        </p:spPr>
        <p:txBody>
          <a:bodyPr wrap="square" lIns="0" tIns="0" rIns="0" bIns="0" rtlCol="0" anchor="t"/>
          <a:lstStyle/>
          <a:p>
            <a:pPr indent="0" marL="0">
              <a:buNone/>
            </a:pPr>
            <a:r>
              <a:rPr lang="en-US" sz="1800" dirty="0">
                <a:solidFill>
                  <a:srgbClr val="C8D2DC"/>
                </a:solidFill>
              </a:rPr>
              <a:t>Turning Demand Insights into Balanced Production</a:t>
            </a:r>
            <a:endParaRPr lang="en-US" sz="1800" dirty="0"/>
          </a:p>
          <a:p>
            <a:pPr indent="0" marL="0">
              <a:buNone/>
            </a:pPr>
            <a:r>
              <a:rPr lang="en-US" sz="1800" dirty="0">
                <a:solidFill>
                  <a:srgbClr val="C8D2DC"/>
                </a:solidFill>
              </a:rPr>
              <a:t>Q1 2026 capacity recommendation · Team: ……</a:t>
            </a:r>
            <a:endParaRPr lang="en-US" sz="1800" dirty="0"/>
          </a:p>
        </p:txBody>
      </p:sp>
      <p:pic>
        <p:nvPicPr>
          <p:cNvPr id="5" name="koc_digital_logo" descr="logo_image3.png"/>
          <p:cNvPicPr>
            <a:picLocks noChangeAspect="1"/>
          </p:cNvPicPr>
          <p:nvPr/>
        </p:nvPicPr>
        <p:blipFill>
          <a:blip r:embed="rId4"/>
          <a:stretch>
            <a:fillRect/>
          </a:stretch>
        </p:blipFill>
        <p:spPr>
          <a:xfrm>
            <a:off x="1143000" y="685800"/>
            <a:ext cx="2377440" cy="5052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6" name="content_background" descr="image6.pn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685800" y="274320"/>
            <a:ext cx="7315200" cy="685800"/>
          </a:xfrm>
          <a:prstGeom prst="rect">
            <a:avLst/>
          </a:prstGeom>
          <a:noFill/>
          <a:ln/>
        </p:spPr>
        <p:txBody>
          <a:bodyPr wrap="square" lIns="0" tIns="0" rIns="0" bIns="0" rtlCol="0" anchor="ctr"/>
          <a:lstStyle/>
          <a:p>
            <a:pPr algn="l" indent="0" marL="0">
              <a:buNone/>
            </a:pPr>
            <a:r>
              <a:rPr lang="en-US" sz="3000" b="1" dirty="0">
                <a:solidFill>
                  <a:srgbClr val="142A3F"/>
                </a:solidFill>
              </a:rPr>
              <a:t>Demand and production plan</a:t>
            </a:r>
            <a:endParaRPr lang="en-US" sz="3000" dirty="0"/>
          </a:p>
        </p:txBody>
      </p:sp>
      <p:sp>
        <p:nvSpPr>
          <p:cNvPr id="3" name="chart_area"/>
          <p:cNvSpPr/>
          <p:nvPr/>
        </p:nvSpPr>
        <p:spPr>
          <a:xfrm>
            <a:off x="457200" y="1965960"/>
            <a:ext cx="4023360" cy="2606040"/>
          </a:xfrm>
          <a:prstGeom prst="roundRect">
            <a:avLst>
              <a:gd name="adj" fmla="val 2133"/>
            </a:avLst>
          </a:prstGeom>
          <a:solidFill>
            <a:schemeClr val="bg2"/>
          </a:solidFill>
          <a:ln w="12700">
            <a:solidFill>
              <a:schemeClr val="bg2"/>
            </a:solidFill>
            <a:prstDash val="solid"/>
          </a:ln>
        </p:spPr>
        <p:txBody>
          <a:bodyPr/>
          <a:p/>
        </p:txBody>
      </p:sp>
      <p:sp>
        <p:nvSpPr>
          <p:cNvPr id="4" name="chart_note"/>
          <p:cNvSpPr txBox="1"/>
          <p:nvPr/>
        </p:nvSpPr>
        <p:spPr>
          <a:xfrm>
            <a:off x="594360" y="2057400"/>
            <a:ext cx="3749039" cy="548640"/>
          </a:xfrm>
          <a:prstGeom prst="rect">
            <a:avLst/>
          </a:prstGeom>
          <a:noFill/>
          <a:ln/>
        </p:spPr>
        <p:txBody>
          <a:bodyPr wrap="square" lIns="1524" tIns="1524" rIns="1524" bIns="1524" rtlCol="0" anchor="t"/>
          <a:lstStyle/>
          <a:p>
            <a:pPr indent="0" marL="0">
              <a:buNone/>
            </a:pPr>
            <a:r>
              <a:rPr lang="en-US" sz="1200" i="1" dirty="0">
                <a:solidFill>
                  <a:schemeClr val="accent2"/>
                </a:solidFill>
              </a:rPr>
              <a:t>Chart: 2021–2025 demand and the January–March 2026 forecast by product. Copy it from the notebook.</a:t>
            </a:r>
            <a:endParaRPr lang="en-US" sz="1400" dirty="0"/>
          </a:p>
        </p:txBody>
      </p:sp>
      <p:sp>
        <p:nvSpPr>
          <p:cNvPr id="5" name="card_wape"/>
          <p:cNvSpPr/>
          <p:nvPr/>
        </p:nvSpPr>
        <p:spPr>
          <a:xfrm>
            <a:off x="4663440" y="1965960"/>
            <a:ext cx="1920240" cy="914400"/>
          </a:xfrm>
          <a:prstGeom prst="roundRect">
            <a:avLst>
              <a:gd name="adj" fmla="val 5926"/>
            </a:avLst>
          </a:prstGeom>
          <a:solidFill>
            <a:schemeClr val="bg2"/>
          </a:solidFill>
          <a:ln w="12700">
            <a:solidFill>
              <a:schemeClr val="bg2"/>
            </a:solidFill>
            <a:prstDash val="solid"/>
          </a:ln>
        </p:spPr>
        <p:txBody>
          <a:bodyPr/>
          <a:p/>
        </p:txBody>
      </p:sp>
      <p:sp>
        <p:nvSpPr>
          <p:cNvPr id="6" name="card_wape_value"/>
          <p:cNvSpPr txBox="1"/>
          <p:nvPr/>
        </p:nvSpPr>
        <p:spPr>
          <a:xfrm>
            <a:off x="4800600" y="2011680"/>
            <a:ext cx="1645920" cy="438912"/>
          </a:xfrm>
          <a:prstGeom prst="rect">
            <a:avLst/>
          </a:prstGeom>
          <a:noFill/>
          <a:ln/>
        </p:spPr>
        <p:txBody>
          <a:bodyPr wrap="square" lIns="0" tIns="0" rIns="0" bIns="0" rtlCol="0" anchor="ctr"/>
          <a:lstStyle/>
          <a:p>
            <a:pPr indent="0" marL="0">
              <a:buNone/>
            </a:pPr>
            <a:r>
              <a:rPr lang="en-US" sz="2400" b="1" dirty="0">
                <a:solidFill>
                  <a:schemeClr val="accent1"/>
                </a:solidFill>
                <a:latin typeface="Calibri Light" pitchFamily="34" charset="0"/>
                <a:ea typeface="Calibri Light" pitchFamily="34" charset="-122"/>
                <a:cs typeface="Calibri Light" pitchFamily="34" charset="-120"/>
              </a:rPr>
              <a:t>…%</a:t>
            </a:r>
            <a:endParaRPr lang="en-US" sz="3200" dirty="0"/>
          </a:p>
        </p:txBody>
      </p:sp>
      <p:sp>
        <p:nvSpPr>
          <p:cNvPr id="7" name="card_wape_label"/>
          <p:cNvSpPr txBox="1"/>
          <p:nvPr/>
        </p:nvSpPr>
        <p:spPr>
          <a:xfrm>
            <a:off x="4800600" y="2450592"/>
            <a:ext cx="1691640" cy="384048"/>
          </a:xfrm>
          <a:prstGeom prst="rect">
            <a:avLst/>
          </a:prstGeom>
          <a:noFill/>
          <a:ln/>
        </p:spPr>
        <p:txBody>
          <a:bodyPr wrap="square" lIns="0" tIns="0" rIns="0" bIns="0" rtlCol="0" anchor="ctr"/>
          <a:lstStyle/>
          <a:p>
            <a:pPr indent="0" marL="0">
              <a:buNone/>
            </a:pPr>
            <a:r>
              <a:rPr lang="en-US" sz="1000" dirty="0">
                <a:solidFill>
                  <a:schemeClr val="tx2"/>
                </a:solidFill>
              </a:rPr>
              <a:t>WAPE (backtest; seasonal naive: …%)</a:t>
            </a:r>
            <a:endParaRPr lang="en-US" sz="1200" dirty="0"/>
          </a:p>
        </p:txBody>
      </p:sp>
      <p:sp>
        <p:nvSpPr>
          <p:cNvPr id="8" name="card_bias"/>
          <p:cNvSpPr/>
          <p:nvPr/>
        </p:nvSpPr>
        <p:spPr>
          <a:xfrm>
            <a:off x="6766560" y="1965960"/>
            <a:ext cx="1920240" cy="914400"/>
          </a:xfrm>
          <a:prstGeom prst="roundRect">
            <a:avLst>
              <a:gd name="adj" fmla="val 5926"/>
            </a:avLst>
          </a:prstGeom>
          <a:solidFill>
            <a:schemeClr val="bg2"/>
          </a:solidFill>
          <a:ln w="12700">
            <a:solidFill>
              <a:schemeClr val="bg2"/>
            </a:solidFill>
            <a:prstDash val="solid"/>
          </a:ln>
        </p:spPr>
        <p:txBody>
          <a:bodyPr/>
          <a:p/>
        </p:txBody>
      </p:sp>
      <p:sp>
        <p:nvSpPr>
          <p:cNvPr id="9" name="card_bias_value"/>
          <p:cNvSpPr txBox="1"/>
          <p:nvPr/>
        </p:nvSpPr>
        <p:spPr>
          <a:xfrm>
            <a:off x="6903720" y="2011680"/>
            <a:ext cx="1645920" cy="438912"/>
          </a:xfrm>
          <a:prstGeom prst="rect">
            <a:avLst/>
          </a:prstGeom>
          <a:noFill/>
          <a:ln/>
        </p:spPr>
        <p:txBody>
          <a:bodyPr wrap="square" lIns="0" tIns="0" rIns="0" bIns="0" rtlCol="0" anchor="ctr"/>
          <a:lstStyle/>
          <a:p>
            <a:pPr indent="0" marL="0">
              <a:buNone/>
            </a:pPr>
            <a:r>
              <a:rPr lang="en-US" sz="2400" b="1" dirty="0">
                <a:solidFill>
                  <a:schemeClr val="accent1"/>
                </a:solidFill>
                <a:latin typeface="Calibri Light" pitchFamily="34" charset="0"/>
                <a:ea typeface="Calibri Light" pitchFamily="34" charset="-122"/>
                <a:cs typeface="Calibri Light" pitchFamily="34" charset="-120"/>
              </a:rPr>
              <a:t>…%</a:t>
            </a:r>
            <a:endParaRPr lang="en-US" sz="3200" dirty="0"/>
          </a:p>
        </p:txBody>
      </p:sp>
      <p:sp>
        <p:nvSpPr>
          <p:cNvPr id="10" name="card_bias_label"/>
          <p:cNvSpPr txBox="1"/>
          <p:nvPr/>
        </p:nvSpPr>
        <p:spPr>
          <a:xfrm>
            <a:off x="6903720" y="2450592"/>
            <a:ext cx="1691640" cy="384048"/>
          </a:xfrm>
          <a:prstGeom prst="rect">
            <a:avLst/>
          </a:prstGeom>
          <a:noFill/>
          <a:ln/>
        </p:spPr>
        <p:txBody>
          <a:bodyPr wrap="square" lIns="0" tIns="0" rIns="0" bIns="0" rtlCol="0" anchor="ctr"/>
          <a:lstStyle/>
          <a:p>
            <a:pPr indent="0" marL="0">
              <a:buNone/>
            </a:pPr>
            <a:r>
              <a:rPr lang="en-US" sz="1000" dirty="0">
                <a:solidFill>
                  <a:schemeClr val="tx2"/>
                </a:solidFill>
              </a:rPr>
              <a:t>Bias (backtest)</a:t>
            </a:r>
            <a:endParaRPr lang="en-US" sz="1200" dirty="0"/>
          </a:p>
        </p:txBody>
      </p:sp>
      <p:sp>
        <p:nvSpPr>
          <p:cNvPr id="11" name="model_note"/>
          <p:cNvSpPr txBox="1"/>
          <p:nvPr/>
        </p:nvSpPr>
        <p:spPr>
          <a:xfrm>
            <a:off x="594360" y="3977639"/>
            <a:ext cx="3749039" cy="502920"/>
          </a:xfrm>
          <a:prstGeom prst="rect">
            <a:avLst/>
          </a:prstGeom>
          <a:noFill/>
          <a:ln/>
        </p:spPr>
        <p:txBody>
          <a:bodyPr wrap="square" lIns="1524" tIns="1524" rIns="1524" bIns="1524" rtlCol="0" anchor="t"/>
          <a:lstStyle/>
          <a:p>
            <a:pPr indent="0" marL="0">
              <a:buNone/>
            </a:pPr>
            <a:r>
              <a:rPr lang="en-US" sz="1100" i="1" dirty="0">
                <a:solidFill>
                  <a:schemeClr val="accent2"/>
                </a:solidFill>
              </a:rPr>
              <a:t>Models compared, the one you chose and the information it uses (one sentence)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pic>
        <p:nvPicPr>
          <p:cNvPr id="27" name="koc_digital_logo" descr="logo_image7.png"/>
          <p:cNvPicPr>
            <a:picLocks noChangeAspect="1"/>
          </p:cNvPicPr>
          <p:nvPr/>
        </p:nvPicPr>
        <p:blipFill>
          <a:blip r:embed="rId4"/>
          <a:stretch>
            <a:fillRect/>
          </a:stretch>
        </p:blipFill>
        <p:spPr>
          <a:xfrm>
            <a:off x="457200" y="4773168"/>
            <a:ext cx="960120" cy="204026"/>
          </a:xfrm>
          <a:prstGeom prst="rect">
            <a:avLst/>
          </a:prstGeom>
        </p:spPr>
      </p:pic>
      <p:sp>
        <p:nvSpPr>
          <p:cNvPr id="28" name="recommendation_box"/>
          <p:cNvSpPr/>
          <p:nvPr/>
        </p:nvSpPr>
        <p:spPr>
          <a:xfrm>
            <a:off x="457200" y="1024128"/>
            <a:ext cx="8229600" cy="786384"/>
          </a:xfrm>
          <a:prstGeom prst="roundRect">
            <a:avLst>
              <a:gd name="adj" fmla="val 5161"/>
            </a:avLst>
          </a:prstGeom>
          <a:solidFill>
            <a:schemeClr val="bg2"/>
          </a:solidFill>
          <a:ln w="12700">
            <a:solidFill>
              <a:schemeClr val="bg2"/>
            </a:solidFill>
            <a:prstDash val="solid"/>
          </a:ln>
        </p:spPr>
        <p:txBody>
          <a:bodyPr/>
          <a:p/>
        </p:txBody>
      </p:sp>
      <p:sp>
        <p:nvSpPr>
          <p:cNvPr id="29" name="recommendation_text"/>
          <p:cNvSpPr txBox="1"/>
          <p:nvPr/>
        </p:nvSpPr>
        <p:spPr>
          <a:xfrm>
            <a:off x="594360" y="1069848"/>
            <a:ext cx="7955279" cy="694944"/>
          </a:xfrm>
          <a:prstGeom prst="rect">
            <a:avLst/>
          </a:prstGeom>
          <a:noFill/>
          <a:ln/>
        </p:spPr>
        <p:txBody>
          <a:bodyPr wrap="square" lIns="1524" tIns="1524" rIns="1524" bIns="1524" rtlCol="0" anchor="t"/>
          <a:lstStyle/>
          <a:p>
            <a:pPr indent="0" marL="0">
              <a:buNone/>
            </a:pPr>
            <a:r>
              <a:rPr lang="en-US" sz="1400" i="1" dirty="0">
                <a:solidFill>
                  <a:schemeClr val="accent2"/>
                </a:solidFill>
              </a:rPr>
              <a:t>Your recommendation in one sentence, with the numbers: what should Nimbus Dynamics do with the line in Q1, what do you recommend for the URGENT order, and at what extra cost?</a:t>
            </a:r>
            <a:endParaRPr lang="en-US" sz="1800" dirty="0"/>
          </a:p>
        </p:txBody>
      </p:sp>
      <p:graphicFrame>
        <p:nvGraphicFramePr>
          <p:cNvPr id="30" name="capacity_table"/>
          <p:cNvGraphicFramePr>
            <a:graphicFrameLocks noGrp="1"/>
          </p:cNvGraphicFramePr>
          <p:nvPr>
            <p:extLst>
              <p:ext uri="{D42A27DB-BD31-4B8C-83A1-F6EECF244321}">
                <p14:modId xmlns:p14="http://schemas.microsoft.com/office/powerpoint/2010/main" val="1579011935"/>
              </p:ext>
            </p:extLst>
          </p:nvPr>
        </p:nvGraphicFramePr>
        <p:xfrm>
          <a:off x="4663440" y="3063240"/>
          <a:ext cx="4023359" cy="1280160"/>
        </p:xfrm>
        <a:graphic>
          <a:graphicData uri="http://schemas.openxmlformats.org/drawingml/2006/table">
            <a:tbl>
              <a:tblPr/>
              <a:tblGrid>
                <a:gridCol w="868680"/>
                <a:gridCol w="1325880"/>
                <a:gridCol w="777240"/>
                <a:gridCol w="1051560"/>
              </a:tblGrid>
              <a:tr h="457200">
                <a:tc>
                  <a:txBody>
                    <a:bodyPr/>
                    <a:lstStyle/>
                    <a:p>
                      <a:pPr indent="0" marL="0">
                        <a:buNone/>
                      </a:pPr>
                      <a:r>
                        <a:rPr lang="en-US" sz="1100" b="1" dirty="0">
                          <a:solidFill>
                            <a:schemeClr val="bg1"/>
                          </a:solidFill>
                        </a:rPr>
                        <a:t>Month</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Planned production (units)</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Takt (s)</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Lower bound (month's takt)</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r>
              <a:tr h="274320">
                <a:tc>
                  <a:txBody>
                    <a:bodyPr/>
                    <a:lstStyle/>
                    <a:p>
                      <a:pPr indent="0" marL="0">
                        <a:buNone/>
                      </a:pPr>
                      <a:r>
                        <a:rPr lang="en-US" sz="1100" dirty="0">
                          <a:solidFill>
                            <a:schemeClr val="tx1"/>
                          </a:solidFill>
                        </a:rPr>
                        <a:t>January</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pPr>
                      <a:r>
                        <a:rPr lang="en-US" sz="1100" dirty="0">
                          <a:solidFill>
                            <a:schemeClr val="tx1"/>
                          </a:solidFill>
                        </a:rPr>
                        <a:t>February</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pPr>
                      <a:r>
                        <a:rPr lang="en-US" sz="1100" dirty="0">
                          <a:solidFill>
                            <a:schemeClr val="tx1"/>
                          </a:solidFill>
                        </a:rPr>
                        <a:t>March</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6" name="content_background" descr="image6.pn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685800" y="274320"/>
            <a:ext cx="7315200" cy="685800"/>
          </a:xfrm>
          <a:prstGeom prst="rect">
            <a:avLst/>
          </a:prstGeom>
          <a:noFill/>
          <a:ln/>
        </p:spPr>
        <p:txBody>
          <a:bodyPr wrap="square" lIns="0" tIns="0" rIns="0" bIns="0" rtlCol="0" anchor="ctr"/>
          <a:lstStyle/>
          <a:p>
            <a:pPr algn="l" indent="0" marL="0">
              <a:buNone/>
            </a:pPr>
            <a:r>
              <a:rPr lang="en-US" sz="3000" b="1" dirty="0">
                <a:solidFill>
                  <a:srgbClr val="142A3F"/>
                </a:solidFill>
              </a:rPr>
              <a:t>Line design</a:t>
            </a:r>
            <a:endParaRPr lang="en-US" sz="3000" dirty="0"/>
          </a:p>
        </p:txBody>
      </p:sp>
      <p:graphicFrame>
        <p:nvGraphicFramePr>
          <p:cNvPr id="6" name="station_table"/>
          <p:cNvGraphicFramePr>
            <a:graphicFrameLocks noGrp="1"/>
          </p:cNvGraphicFramePr>
          <p:nvPr>
            <p:extLst>
              <p:ext uri="{D42A27DB-BD31-4B8C-83A1-F6EECF244321}">
                <p14:modId xmlns:p14="http://schemas.microsoft.com/office/powerpoint/2010/main" val="1579011935"/>
              </p:ext>
            </p:extLst>
          </p:nvPr>
        </p:nvGraphicFramePr>
        <p:xfrm>
          <a:off x="457200" y="1097280"/>
          <a:ext cx="5120639" cy="2743200"/>
        </p:xfrm>
        <a:graphic>
          <a:graphicData uri="http://schemas.openxmlformats.org/drawingml/2006/table">
            <a:tbl>
              <a:tblPr/>
              <a:tblGrid>
                <a:gridCol w="411480"/>
                <a:gridCol w="1143000"/>
                <a:gridCol w="914400"/>
                <a:gridCol w="777240"/>
                <a:gridCol w="1874519"/>
              </a:tblGrid>
              <a:tr h="274320">
                <a:tc>
                  <a:txBody>
                    <a:bodyPr/>
                    <a:lstStyle/>
                    <a:p>
                      <a:pPr indent="0" marL="0">
                        <a:buNone/>
                        <a:defRPr sz="1100"/>
                      </a:pPr>
                      <a:r>
                        <a:rPr lang="en-US" sz="1100" b="1" dirty="0">
                          <a:solidFill>
                            <a:schemeClr val="bg1"/>
                          </a:solidFill>
                        </a:rPr>
                        <a:t>St.</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Tasks</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Weighted load (s)</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Longest product time (s)</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Process groups</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r>
              <a:tr h="274320">
                <a:tc>
                  <a:txBody>
                    <a:bodyPr/>
                    <a:lstStyle/>
                    <a:p>
                      <a:pPr indent="0" marL="0">
                        <a:buNone/>
                        <a:defRPr sz="1100"/>
                      </a:pPr>
                      <a:r>
                        <a:rPr lang="en-US" sz="1100" dirty="0">
                          <a:solidFill>
                            <a:schemeClr val="tx1"/>
                          </a:solidFill>
                        </a:rPr>
                        <a:t>1</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2</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3</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4</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5</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6</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7</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8</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9</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bl>
          </a:graphicData>
        </a:graphic>
      </p:graphicFrame>
      <p:sp>
        <p:nvSpPr>
          <p:cNvPr id="4" name="why_box"/>
          <p:cNvSpPr/>
          <p:nvPr/>
        </p:nvSpPr>
        <p:spPr>
          <a:xfrm>
            <a:off x="5852160" y="1097280"/>
            <a:ext cx="2834640" cy="3429000"/>
          </a:xfrm>
          <a:prstGeom prst="roundRect">
            <a:avLst>
              <a:gd name="adj" fmla="val 2581"/>
            </a:avLst>
          </a:prstGeom>
          <a:solidFill>
            <a:schemeClr val="bg2"/>
          </a:solidFill>
          <a:ln w="12700">
            <a:solidFill>
              <a:schemeClr val="bg2"/>
            </a:solidFill>
            <a:prstDash val="solid"/>
          </a:ln>
        </p:spPr>
        <p:txBody>
          <a:bodyPr/>
          <a:p/>
        </p:txBody>
      </p:sp>
      <p:sp>
        <p:nvSpPr>
          <p:cNvPr id="5" name="why_title"/>
          <p:cNvSpPr txBox="1"/>
          <p:nvPr/>
        </p:nvSpPr>
        <p:spPr>
          <a:xfrm>
            <a:off x="6035040" y="118872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Why this line?</a:t>
            </a:r>
            <a:endParaRPr lang="en-US" sz="1600" dirty="0"/>
          </a:p>
        </p:txBody>
      </p:sp>
      <p:sp>
        <p:nvSpPr>
          <p:cNvPr id="6" name="why_text"/>
          <p:cNvSpPr txBox="1"/>
          <p:nvPr/>
        </p:nvSpPr>
        <p:spPr>
          <a:xfrm>
            <a:off x="5897880" y="1600200"/>
            <a:ext cx="2743200" cy="2834640"/>
          </a:xfrm>
          <a:prstGeom prst="rect">
            <a:avLst/>
          </a:prstGeom>
          <a:noFill/>
          <a:ln/>
        </p:spPr>
        <p:txBody>
          <a:bodyPr wrap="square" lIns="1524" tIns="1524" rIns="1524" bIns="1524" rtlCol="0" anchor="t"/>
          <a:lstStyle/>
          <a:p>
            <a:pPr indent="0" marL="0">
              <a:buNone/>
            </a:pPr>
            <a:r>
              <a:rPr lang="en-US" sz="1300" i="1" dirty="0">
                <a:solidFill>
                  <a:schemeClr val="accent2"/>
                </a:solidFill>
              </a:rPr>
              <a:t>Where does the current line fall short, and why? What does the lower bound say, and what did your model find? How heavy is the busiest station, and can it be lighter with this many stations? Are all line rules met?</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pic>
        <p:nvPicPr>
          <p:cNvPr id="27" name="koc_digital_logo" descr="logo_image7.png"/>
          <p:cNvPicPr>
            <a:picLocks noChangeAspect="1"/>
          </p:cNvPicPr>
          <p:nvPr/>
        </p:nvPicPr>
        <p:blipFill>
          <a:blip r:embed="rId4"/>
          <a:stretch>
            <a:fillRect/>
          </a:stretch>
        </p:blipFill>
        <p:spPr>
          <a:xfrm>
            <a:off x="457200" y="4773168"/>
            <a:ext cx="960120" cy="2040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6" name="content_background" descr="image6.pn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685800" y="274320"/>
            <a:ext cx="7315200" cy="685800"/>
          </a:xfrm>
          <a:prstGeom prst="rect">
            <a:avLst/>
          </a:prstGeom>
          <a:noFill/>
          <a:ln/>
        </p:spPr>
        <p:txBody>
          <a:bodyPr wrap="square" lIns="0" tIns="0" rIns="0" bIns="0" rtlCol="0" anchor="ctr"/>
          <a:lstStyle/>
          <a:p>
            <a:pPr algn="l" indent="0" marL="0">
              <a:buNone/>
            </a:pPr>
            <a:r>
              <a:rPr lang="en-US" sz="3000" b="1" dirty="0">
                <a:solidFill>
                  <a:srgbClr val="142A3F"/>
                </a:solidFill>
              </a:rPr>
              <a:t>URGENT order: our recommendation</a:t>
            </a:r>
            <a:endParaRPr lang="en-US" sz="3000" dirty="0"/>
          </a:p>
        </p:txBody>
      </p:sp>
      <p:sp>
        <p:nvSpPr>
          <p:cNvPr id="3" name="option_station"/>
          <p:cNvSpPr/>
          <p:nvPr/>
        </p:nvSpPr>
        <p:spPr>
          <a:xfrm>
            <a:off x="457200" y="1097280"/>
            <a:ext cx="4023360" cy="1965960"/>
          </a:xfrm>
          <a:prstGeom prst="roundRect">
            <a:avLst>
              <a:gd name="adj" fmla="val 3721"/>
            </a:avLst>
          </a:prstGeom>
          <a:solidFill>
            <a:schemeClr val="bg2"/>
          </a:solidFill>
          <a:ln w="12700">
            <a:solidFill>
              <a:schemeClr val="bg2"/>
            </a:solidFill>
            <a:prstDash val="solid"/>
          </a:ln>
        </p:spPr>
        <p:txBody>
          <a:bodyPr/>
          <a:p/>
        </p:txBody>
      </p:sp>
      <p:sp>
        <p:nvSpPr>
          <p:cNvPr id="4" name="option_station_title"/>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Light" pitchFamily="34" charset="0"/>
                <a:ea typeface="Calibri Light" pitchFamily="34" charset="-122"/>
                <a:cs typeface="Calibri Light" pitchFamily="34" charset="-120"/>
              </a:rPr>
              <a:t>An extra station</a:t>
            </a:r>
            <a:endParaRPr lang="en-US" sz="1800" dirty="0"/>
          </a:p>
        </p:txBody>
      </p:sp>
      <p:sp>
        <p:nvSpPr>
          <p:cNvPr id="5" name="option_station_text"/>
          <p:cNvSpPr txBox="1"/>
          <p:nvPr/>
        </p:nvSpPr>
        <p:spPr>
          <a:xfrm>
            <a:off x="502920" y="1600200"/>
            <a:ext cx="3931920" cy="1371600"/>
          </a:xfrm>
          <a:prstGeom prst="rect">
            <a:avLst/>
          </a:prstGeom>
          <a:noFill/>
          <a:ln/>
        </p:spPr>
        <p:txBody>
          <a:bodyPr wrap="square" lIns="1524" tIns="1524" rIns="1524" bIns="1524" rtlCol="0" anchor="t"/>
          <a:lstStyle/>
          <a:p>
            <a:pPr indent="0" marL="0">
              <a:buNone/>
            </a:pPr>
            <a:r>
              <a:rPr lang="en-US" sz="1400" i="1" dirty="0">
                <a:solidFill>
                  <a:schemeClr val="accent2"/>
                </a:solidFill>
              </a:rPr>
              <a:t>Cost: €…</a:t>
            </a:r>
            <a:endParaRPr lang="en-US" sz="1400" dirty="0"/>
          </a:p>
          <a:p>
            <a:pPr indent="0" marL="0">
              <a:buNone/>
            </a:pPr>
            <a:r>
              <a:rPr lang="en-US" sz="1400" i="1" dirty="0">
                <a:solidFill>
                  <a:schemeClr val="accent2"/>
                </a:solidFill>
              </a:rPr>
              <a:t>Spare capacity (units): …</a:t>
            </a:r>
            <a:endParaRPr lang="en-US" sz="1400" dirty="0"/>
          </a:p>
          <a:p>
            <a:pPr indent="0" marL="0">
              <a:buNone/>
            </a:pPr>
            <a:r>
              <a:rPr lang="en-US" sz="1400" i="1" dirty="0">
                <a:solidFill>
                  <a:schemeClr val="accent2"/>
                </a:solidFill>
              </a:rPr>
              <a:t>Risk: …</a:t>
            </a:r>
            <a:endParaRPr lang="en-US" sz="1400" dirty="0"/>
          </a:p>
        </p:txBody>
      </p:sp>
      <p:sp>
        <p:nvSpPr>
          <p:cNvPr id="6" name="option_prebuild"/>
          <p:cNvSpPr/>
          <p:nvPr/>
        </p:nvSpPr>
        <p:spPr>
          <a:xfrm>
            <a:off x="4663440" y="1097280"/>
            <a:ext cx="4023360" cy="1965960"/>
          </a:xfrm>
          <a:prstGeom prst="roundRect">
            <a:avLst>
              <a:gd name="adj" fmla="val 3721"/>
            </a:avLst>
          </a:prstGeom>
          <a:solidFill>
            <a:schemeClr val="bg2"/>
          </a:solidFill>
          <a:ln w="12700">
            <a:solidFill>
              <a:schemeClr val="bg2"/>
            </a:solidFill>
            <a:prstDash val="solid"/>
          </a:ln>
        </p:spPr>
        <p:txBody>
          <a:bodyPr/>
          <a:p/>
        </p:txBody>
      </p:sp>
      <p:sp>
        <p:nvSpPr>
          <p:cNvPr id="7" name="option_prebuild_title"/>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Light" pitchFamily="34" charset="0"/>
                <a:ea typeface="Calibri Light" pitchFamily="34" charset="-122"/>
                <a:cs typeface="Calibri Light" pitchFamily="34" charset="-120"/>
              </a:rPr>
              <a:t>Prebuild in January</a:t>
            </a:r>
            <a:endParaRPr lang="en-US" sz="1800" dirty="0"/>
          </a:p>
        </p:txBody>
      </p:sp>
      <p:sp>
        <p:nvSpPr>
          <p:cNvPr id="8" name="option_prebuild_text"/>
          <p:cNvSpPr txBox="1"/>
          <p:nvPr/>
        </p:nvSpPr>
        <p:spPr>
          <a:xfrm>
            <a:off x="4709160" y="1600200"/>
            <a:ext cx="3931920" cy="1371600"/>
          </a:xfrm>
          <a:prstGeom prst="rect">
            <a:avLst/>
          </a:prstGeom>
          <a:noFill/>
          <a:ln/>
        </p:spPr>
        <p:txBody>
          <a:bodyPr wrap="square" lIns="1524" tIns="1524" rIns="1524" bIns="1524" rtlCol="0" anchor="t"/>
          <a:lstStyle/>
          <a:p>
            <a:pPr indent="0" marL="0">
              <a:buNone/>
            </a:pPr>
            <a:r>
              <a:rPr lang="en-US" sz="1400" i="1" dirty="0">
                <a:solidFill>
                  <a:schemeClr val="accent2"/>
                </a:solidFill>
              </a:rPr>
              <a:t>Units: …</a:t>
            </a:r>
            <a:endParaRPr lang="en-US" sz="1400" dirty="0"/>
          </a:p>
          <a:p>
            <a:pPr indent="0" marL="0">
              <a:buNone/>
            </a:pPr>
            <a:r>
              <a:rPr lang="en-US" sz="1400" i="1" dirty="0">
                <a:solidFill>
                  <a:schemeClr val="accent2"/>
                </a:solidFill>
              </a:rPr>
              <a:t>Cost: €…</a:t>
            </a:r>
            <a:endParaRPr lang="en-US" sz="1400" dirty="0"/>
          </a:p>
          <a:p>
            <a:pPr indent="0" marL="0">
              <a:buNone/>
            </a:pPr>
            <a:r>
              <a:rPr lang="en-US" sz="1400" i="1" dirty="0">
                <a:solidFill>
                  <a:schemeClr val="accent2"/>
                </a:solidFill>
              </a:rPr>
              <a:t>Spare capacity (units): …</a:t>
            </a:r>
            <a:endParaRPr lang="en-US" sz="1400" dirty="0"/>
          </a:p>
          <a:p>
            <a:pPr indent="0" marL="0">
              <a:buNone/>
            </a:pPr>
            <a:r>
              <a:rPr lang="en-US" sz="1400" i="1" dirty="0">
                <a:solidFill>
                  <a:schemeClr val="accent2"/>
                </a:solidFill>
              </a:rPr>
              <a:t>Risk: …</a:t>
            </a:r>
            <a:endParaRPr lang="en-US" sz="1400" dirty="0"/>
          </a:p>
        </p:txBody>
      </p:sp>
      <p:sp>
        <p:nvSpPr>
          <p:cNvPr id="9" name="decision_box"/>
          <p:cNvSpPr/>
          <p:nvPr/>
        </p:nvSpPr>
        <p:spPr>
          <a:xfrm>
            <a:off x="457200" y="3291840"/>
            <a:ext cx="8229600" cy="1234440"/>
          </a:xfrm>
          <a:prstGeom prst="roundRect">
            <a:avLst>
              <a:gd name="adj" fmla="val 5926"/>
            </a:avLst>
          </a:prstGeom>
          <a:solidFill>
            <a:schemeClr val="accent3"/>
          </a:solidFill>
          <a:ln w="12700">
            <a:solidFill>
              <a:schemeClr val="accent3"/>
            </a:solidFill>
            <a:prstDash val="solid"/>
          </a:ln>
        </p:spPr>
        <p:txBody>
          <a:bodyPr/>
          <a:p/>
        </p:txBody>
      </p:sp>
      <p:sp>
        <p:nvSpPr>
          <p:cNvPr id="10" name="decision_title"/>
          <p:cNvSpPr txBox="1"/>
          <p:nvPr/>
        </p:nvSpPr>
        <p:spPr>
          <a:xfrm>
            <a:off x="640080" y="3364992"/>
            <a:ext cx="7863840" cy="320040"/>
          </a:xfrm>
          <a:prstGeom prst="rect">
            <a:avLst/>
          </a:prstGeom>
          <a:noFill/>
          <a:ln/>
        </p:spPr>
        <p:txBody>
          <a:bodyPr wrap="square" lIns="0" tIns="0" rIns="0" bIns="0" rtlCol="0" anchor="ctr"/>
          <a:lstStyle/>
          <a:p>
            <a:pPr indent="0" marL="0">
              <a:buNone/>
            </a:pPr>
            <a:r>
              <a:rPr lang="en-US" sz="1600" b="1" dirty="0">
                <a:solidFill>
                  <a:schemeClr val="tx1"/>
                </a:solidFill>
              </a:rPr>
              <a:t>Our recommendation, and what would change it</a:t>
            </a:r>
            <a:endParaRPr lang="en-US" sz="1600" dirty="0"/>
          </a:p>
        </p:txBody>
      </p:sp>
      <p:sp>
        <p:nvSpPr>
          <p:cNvPr id="11" name="decision_text"/>
          <p:cNvSpPr txBox="1"/>
          <p:nvPr/>
        </p:nvSpPr>
        <p:spPr>
          <a:xfrm>
            <a:off x="594360" y="3703320"/>
            <a:ext cx="7955280" cy="731520"/>
          </a:xfrm>
          <a:prstGeom prst="rect">
            <a:avLst/>
          </a:prstGeom>
          <a:noFill/>
          <a:ln/>
        </p:spPr>
        <p:txBody>
          <a:bodyPr wrap="square" lIns="1524" tIns="1524" rIns="1524" bIns="1524" rtlCol="0" anchor="t"/>
          <a:lstStyle/>
          <a:p>
            <a:pPr indent="0" marL="0">
              <a:buNone/>
            </a:pPr>
            <a:r>
              <a:rPr lang="en-US" sz="1400" i="1" dirty="0">
                <a:solidFill>
                  <a:schemeClr val="tx1"/>
                </a:solidFill>
              </a:rPr>
              <a:t>What do you recommend? When would you change your mind, and what should be monitored? Which simplifications in the model could affect the answer?</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pic>
        <p:nvPicPr>
          <p:cNvPr id="27" name="koc_digital_logo" descr="logo_image7.png"/>
          <p:cNvPicPr>
            <a:picLocks noChangeAspect="1"/>
          </p:cNvPicPr>
          <p:nvPr/>
        </p:nvPicPr>
        <p:blipFill>
          <a:blip r:embed="rId4"/>
          <a:stretch>
            <a:fillRect/>
          </a:stretch>
        </p:blipFill>
        <p:spPr>
          <a:xfrm>
            <a:off x="457200" y="4773168"/>
            <a:ext cx="960120" cy="204026"/>
          </a:xfrm>
          <a:prstGeom prst="rect">
            <a:avLst/>
          </a:prstGeom>
        </p:spPr>
      </p:pic>
    </p:spTree>
  </p:cSld>
  <p:clrMapOvr>
    <a:masterClrMapping/>
  </p:clrMapOvr>
</p:sld>
</file>

<file path=ppt/theme/theme1.xml><?xml version="1.0" encoding="utf-8"?>
<a:theme xmlns:a="http://schemas.openxmlformats.org/drawingml/2006/main" name="NovaDrive Graphite">
  <a:themeElements>
    <a:clrScheme name="NovaDrive Graphite">
      <a:dk1>
        <a:srgbClr val="1A2027"/>
      </a:dk1>
      <a:lt1>
        <a:srgbClr val="FFFFFF"/>
      </a:lt1>
      <a:dk2>
        <a:srgbClr val="1A2027"/>
      </a:dk2>
      <a:lt2>
        <a:srgbClr val="F4F6F8"/>
      </a:lt2>
      <a:accent1>
        <a:srgbClr val="142A3F"/>
      </a:accent1>
      <a:accent2>
        <a:srgbClr val="5A6470"/>
      </a:accent2>
      <a:accent3>
        <a:srgbClr val="C8D2DC"/>
      </a:accent3>
      <a:accent4>
        <a:srgbClr val="5A6470"/>
      </a:accent4>
      <a:accent5>
        <a:srgbClr val="9AA0A8"/>
      </a:accent5>
      <a:accent6>
        <a:srgbClr val="C8D2DC"/>
      </a:accent6>
      <a:hlink>
        <a:srgbClr val="142A3F"/>
      </a:hlink>
      <a:folHlink>
        <a:srgbClr val="142A3F"/>
      </a:folHlink>
    </a:clrScheme>
    <a:fontScheme name="NovaDrive Graphit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on the Line</dc:title>
  <dc:subject>PptxGenJS Presentation</dc:subject>
  <dc:creator>KoçDigital analytics team</dc:creator>
  <cp:lastModifiedBy>KoçDigital analytics team</cp:lastModifiedBy>
  <cp:revision>1</cp:revision>
  <dcterms:created xsi:type="dcterms:W3CDTF">2026-10-06T14:16:11Z</dcterms:created>
  <dcterms:modified xsi:type="dcterms:W3CDTF">2026-10-06T14:16:11Z</dcterms:modified>
</cp:coreProperties>
</file>