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4"/>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Kapak" id="{b098a225-9bbf-6a3d-cf82-1a193c73d160}">
          <p14:sldIdLst>
            <p14:sldId id="256"/>
          </p14:sldIdLst>
        </p14:section>
        <p14:section name="Öneri" id="{ec39b9ff-41ad-995f-4670-53ffb1efbc5b}">
          <p14:sldIdLst>
            <p14:sldId id="258"/>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Takım adınızı ekleyin. Bu sunum Nimbus Dynamics yönetimine sunulacak: teknik ayrıntıyla değil, karar ve gerekçeyle başlayın.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Yönetim yalnızca üstteki kutuya bakarak karar verebilmeli. Tablodaki boş hücreleri doldurun. Hangi modelleri karşılaştırdınız, hangisini neden seçtiniz? Sınamak için veriyi nasıl ayırdınız? Tahminde hangi bilgileri kullandınız? Notebook'ta nerede? Grafik Adım 1.3'te; WAPE, bias ve mevsimsel naif WAPE Adım 1.2'deki karşılaştırma tablosunda; planlanan üretim ve takt Bölüm 2'de; her ayın alt sınırı Adım 3.2'deki hat raporunda.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Tablodaki kullanmadığınız satırları silin. En yoğun istasyonun yükünü yazın ve hattın üç ayda da çalıştığını gösterin. Notebook'ta nerede? Tablo, Adım 3.2'deki hat raporunun istasyon tablosundan gelir (en uzun ürün süresi, üç ürün sütununun en büyüğüdür); mevcut hat Adım 3.1'de; alt sınır, en yoğun istasyon ve üç ayın sonucu hat raporunda; kurallar sizin check_rules fonksiyonunuzda.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Ece'nin sorusu: fikrinizi ne değiştirir? İki seçeneği de maliyetlendirin. Notebook'ta nerede? Maliyetler, önden üretim adedi ve iki seçeneğin kalan kapasitesi Bölüm 4'teki hücrede: STATION_COST_Q1_EUR, PREBUILD_COST_EUR, PREBUILD_UNITS, STATION_SPARE_UNITS, PREBUILD_SPARE_UNITS. Riskler ve önerinizi neyin değiştireceği için Ece'nin e-postasını yeniden okuyun.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548640" y="2743200"/>
            <a:ext cx="8046720" cy="914400"/>
          </a:xfrm>
          <a:prstGeom prst="rect">
            <a:avLst/>
          </a:prstGeom>
          <a:noFill/>
          <a:ln/>
        </p:spPr>
        <p:txBody>
          <a:bodyPr wrap="square" rtlCol="0"/>
          <a:lstStyle>
            <a:lvl1pPr indent="0" marL="0">
              <a:buNone/>
              <a:defRPr lang="en-US" sz="1800" dirty="0">
                <a:solidFill>
                  <a:schemeClr val="accent3"/>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457200" y="4754880"/>
            <a:ext cx="4572000" cy="228600"/>
          </a:xfrm>
          <a:prstGeom prst="rect">
            <a:avLst/>
          </a:prstGeom>
          <a:noFill/>
          <a:ln/>
        </p:spPr>
        <p:txBody>
          <a:bodyPr wrap="square" lIns="0" tIns="0" rIns="0" bIns="0" rtlCol="0" anchor="ctr"/>
          <a:lstStyle/>
          <a:p>
            <a:pPr indent="0" marL="0">
              <a:buNone/>
            </a:pPr>
            <a:r>
              <a:rPr lang="en-US" sz="1000" dirty="0">
                <a:solidFill>
                  <a:schemeClr val="accent2"/>
                </a:solidFill>
              </a:rPr>
              <a:t>Data on the Line · KoçDigital analitik ekibi</a:t>
            </a:r>
            <a:endParaRPr lang="en-US" sz="10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4" name="cover_background" descr="image2.jpeg"/>
          <p:cNvPicPr>
            <a:picLocks noChangeAspect="1"/>
          </p:cNvPicPr>
          <p:nvPr/>
        </p:nvPicPr>
        <p:blipFill>
          <a:blip r:embed="rId3"/>
          <a:stretch>
            <a:fillRect/>
          </a:stretch>
        </p:blipFill>
        <p:spPr>
          <a:xfrm>
            <a:off x="0" y="0"/>
            <a:ext cx="9144000" cy="5143500"/>
          </a:xfrm>
          <a:prstGeom prst="rect">
            <a:avLst/>
          </a:prstGeom>
        </p:spPr>
      </p:pic>
      <p:sp>
        <p:nvSpPr>
          <p:cNvPr id="2" name="Text 0"/>
          <p:cNvSpPr/>
          <p:nvPr>
            <p:ph idx="100" type="title" hasCustomPrompt="1"/>
          </p:nvPr>
        </p:nvSpPr>
        <p:spPr>
          <a:xfrm>
            <a:off x="1143000" y="2286000"/>
            <a:ext cx="7223760" cy="822960"/>
          </a:xfrm>
          <a:prstGeom prst="rect">
            <a:avLst/>
          </a:prstGeom>
          <a:noFill/>
          <a:ln/>
        </p:spPr>
        <p:txBody>
          <a:bodyPr wrap="square" lIns="0" tIns="0" rIns="0" bIns="0" rtlCol="0" anchor="b"/>
          <a:lstStyle/>
          <a:p>
            <a:pPr algn="l" indent="0" marL="0">
              <a:buNone/>
            </a:pPr>
            <a:r>
              <a:rPr lang="en-US" sz="3800" b="1" dirty="0">
                <a:solidFill>
                  <a:srgbClr val="FFFFFF"/>
                </a:solidFill>
              </a:rPr>
              <a:t>Data on the Line</a:t>
            </a:r>
            <a:endParaRPr lang="en-US" sz="3800" dirty="0"/>
          </a:p>
        </p:txBody>
      </p:sp>
      <p:sp>
        <p:nvSpPr>
          <p:cNvPr id="3" name="Text 0"/>
          <p:cNvSpPr/>
          <p:nvPr>
            <p:ph idx="101" type="body" hasCustomPrompt="1"/>
          </p:nvPr>
        </p:nvSpPr>
        <p:spPr>
          <a:xfrm>
            <a:off x="1143000" y="3063240"/>
            <a:ext cx="7223760" cy="548640"/>
          </a:xfrm>
          <a:prstGeom prst="rect">
            <a:avLst/>
          </a:prstGeom>
          <a:noFill/>
          <a:ln/>
        </p:spPr>
        <p:txBody>
          <a:bodyPr wrap="square" lIns="0" tIns="0" rIns="0" bIns="0" rtlCol="0" anchor="t"/>
          <a:lstStyle/>
          <a:p>
            <a:pPr indent="0" marL="0">
              <a:buNone/>
            </a:pPr>
            <a:r>
              <a:rPr lang="en-US" sz="1800" dirty="0">
                <a:solidFill>
                  <a:srgbClr val="C8D2DC"/>
                </a:solidFill>
              </a:rPr>
              <a:t>Turning Demand Insights into Balanced Production</a:t>
            </a:r>
            <a:endParaRPr lang="en-US" sz="1800" dirty="0"/>
          </a:p>
          <a:p>
            <a:pPr indent="0" marL="0">
              <a:buNone/>
            </a:pPr>
            <a:r>
              <a:rPr lang="en-US" sz="1800" dirty="0">
                <a:solidFill>
                  <a:srgbClr val="C8D2DC"/>
                </a:solidFill>
              </a:rPr>
              <a:t>2026 birinci çeyrek kapasite önerisi · Takım: ……</a:t>
            </a:r>
            <a:endParaRPr lang="en-US" sz="1800" dirty="0"/>
          </a:p>
        </p:txBody>
      </p:sp>
      <p:pic>
        <p:nvPicPr>
          <p:cNvPr id="5" name="koc_digital_logo" descr="logo_image3.png"/>
          <p:cNvPicPr>
            <a:picLocks noChangeAspect="1"/>
          </p:cNvPicPr>
          <p:nvPr/>
        </p:nvPicPr>
        <p:blipFill>
          <a:blip r:embed="rId4"/>
          <a:stretch>
            <a:fillRect/>
          </a:stretch>
        </p:blipFill>
        <p:spPr>
          <a:xfrm>
            <a:off x="1143000" y="685800"/>
            <a:ext cx="2377440" cy="50520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6" name="content_background" descr="image6.png"/>
          <p:cNvPicPr>
            <a:picLocks noChangeAspect="1"/>
          </p:cNvPicPr>
          <p:nvPr/>
        </p:nvPicPr>
        <p:blipFill>
          <a:blip r:embed="rId3"/>
          <a:stretch>
            <a:fillRect/>
          </a:stretch>
        </p:blipFill>
        <p:spPr>
          <a:xfrm>
            <a:off x="0" y="0"/>
            <a:ext cx="9144000" cy="5143500"/>
          </a:xfrm>
          <a:prstGeom prst="rect">
            <a:avLst/>
          </a:prstGeom>
        </p:spPr>
      </p:pic>
      <p:sp>
        <p:nvSpPr>
          <p:cNvPr id="2" name="Text 0"/>
          <p:cNvSpPr/>
          <p:nvPr>
            <p:ph idx="100" type="title" hasCustomPrompt="1"/>
          </p:nvPr>
        </p:nvSpPr>
        <p:spPr>
          <a:xfrm>
            <a:off x="685800" y="274320"/>
            <a:ext cx="7315200" cy="685800"/>
          </a:xfrm>
          <a:prstGeom prst="rect">
            <a:avLst/>
          </a:prstGeom>
          <a:noFill/>
          <a:ln/>
        </p:spPr>
        <p:txBody>
          <a:bodyPr wrap="square" lIns="0" tIns="0" rIns="0" bIns="0" rtlCol="0" anchor="ctr"/>
          <a:lstStyle/>
          <a:p>
            <a:pPr algn="l" indent="0" marL="0">
              <a:buNone/>
            </a:pPr>
            <a:r>
              <a:rPr lang="en-US" sz="3000" b="1" dirty="0">
                <a:solidFill>
                  <a:srgbClr val="142A3F"/>
                </a:solidFill>
              </a:rPr>
              <a:t>Talep ve üretim planı</a:t>
            </a:r>
            <a:endParaRPr lang="en-US" sz="3000" dirty="0"/>
          </a:p>
        </p:txBody>
      </p:sp>
      <p:sp>
        <p:nvSpPr>
          <p:cNvPr id="3" name="chart_area"/>
          <p:cNvSpPr/>
          <p:nvPr/>
        </p:nvSpPr>
        <p:spPr>
          <a:xfrm>
            <a:off x="457200" y="1965960"/>
            <a:ext cx="4023360" cy="2606040"/>
          </a:xfrm>
          <a:prstGeom prst="roundRect">
            <a:avLst>
              <a:gd name="adj" fmla="val 2133"/>
            </a:avLst>
          </a:prstGeom>
          <a:solidFill>
            <a:schemeClr val="bg2"/>
          </a:solidFill>
          <a:ln w="12700">
            <a:solidFill>
              <a:schemeClr val="bg2"/>
            </a:solidFill>
            <a:prstDash val="solid"/>
          </a:ln>
        </p:spPr>
        <p:txBody>
          <a:bodyPr/>
          <a:p/>
        </p:txBody>
      </p:sp>
      <p:sp>
        <p:nvSpPr>
          <p:cNvPr id="4" name="chart_note"/>
          <p:cNvSpPr txBox="1"/>
          <p:nvPr/>
        </p:nvSpPr>
        <p:spPr>
          <a:xfrm>
            <a:off x="594360" y="2057400"/>
            <a:ext cx="3749039" cy="548640"/>
          </a:xfrm>
          <a:prstGeom prst="rect">
            <a:avLst/>
          </a:prstGeom>
          <a:noFill/>
          <a:ln/>
        </p:spPr>
        <p:txBody>
          <a:bodyPr wrap="square" lIns="1524" tIns="1524" rIns="1524" bIns="1524" rtlCol="0" anchor="t"/>
          <a:lstStyle/>
          <a:p>
            <a:pPr indent="0" marL="0">
              <a:buNone/>
            </a:pPr>
            <a:r>
              <a:rPr lang="en-US" sz="1200" i="1" dirty="0">
                <a:solidFill>
                  <a:schemeClr val="accent2"/>
                </a:solidFill>
              </a:rPr>
              <a:t>Grafik: ürün bazında 2021–2025 talebi ve Ocak–Mart 2026 tahmini. Notebook'tan kopyalayın.</a:t>
            </a:r>
            <a:endParaRPr lang="en-US" sz="1400" dirty="0"/>
          </a:p>
        </p:txBody>
      </p:sp>
      <p:sp>
        <p:nvSpPr>
          <p:cNvPr id="5" name="card_wape"/>
          <p:cNvSpPr/>
          <p:nvPr/>
        </p:nvSpPr>
        <p:spPr>
          <a:xfrm>
            <a:off x="4663440" y="1965960"/>
            <a:ext cx="1920240" cy="914400"/>
          </a:xfrm>
          <a:prstGeom prst="roundRect">
            <a:avLst>
              <a:gd name="adj" fmla="val 5926"/>
            </a:avLst>
          </a:prstGeom>
          <a:solidFill>
            <a:schemeClr val="bg2"/>
          </a:solidFill>
          <a:ln w="12700">
            <a:solidFill>
              <a:schemeClr val="bg2"/>
            </a:solidFill>
            <a:prstDash val="solid"/>
          </a:ln>
        </p:spPr>
        <p:txBody>
          <a:bodyPr/>
          <a:p/>
        </p:txBody>
      </p:sp>
      <p:sp>
        <p:nvSpPr>
          <p:cNvPr id="6" name="card_wape_value"/>
          <p:cNvSpPr txBox="1"/>
          <p:nvPr/>
        </p:nvSpPr>
        <p:spPr>
          <a:xfrm>
            <a:off x="4800600" y="2011680"/>
            <a:ext cx="1645920" cy="438912"/>
          </a:xfrm>
          <a:prstGeom prst="rect">
            <a:avLst/>
          </a:prstGeom>
          <a:noFill/>
          <a:ln/>
        </p:spPr>
        <p:txBody>
          <a:bodyPr wrap="square" lIns="0" tIns="0" rIns="0" bIns="0" rtlCol="0" anchor="ctr"/>
          <a:lstStyle/>
          <a:p>
            <a:pPr indent="0" marL="0">
              <a:buNone/>
            </a:pPr>
            <a:r>
              <a:rPr lang="en-US" sz="2400" b="1" dirty="0">
                <a:solidFill>
                  <a:schemeClr val="accent1"/>
                </a:solidFill>
                <a:latin typeface="Calibri Light" pitchFamily="34" charset="0"/>
                <a:ea typeface="Calibri Light" pitchFamily="34" charset="-122"/>
                <a:cs typeface="Calibri Light" pitchFamily="34" charset="-120"/>
              </a:rPr>
              <a:t>%…</a:t>
            </a:r>
            <a:endParaRPr lang="en-US" sz="3200" dirty="0"/>
          </a:p>
        </p:txBody>
      </p:sp>
      <p:sp>
        <p:nvSpPr>
          <p:cNvPr id="7" name="card_wape_label"/>
          <p:cNvSpPr txBox="1"/>
          <p:nvPr/>
        </p:nvSpPr>
        <p:spPr>
          <a:xfrm>
            <a:off x="4800600" y="2450592"/>
            <a:ext cx="1691640" cy="384048"/>
          </a:xfrm>
          <a:prstGeom prst="rect">
            <a:avLst/>
          </a:prstGeom>
          <a:noFill/>
          <a:ln/>
        </p:spPr>
        <p:txBody>
          <a:bodyPr wrap="square" lIns="0" tIns="0" rIns="0" bIns="0" rtlCol="0" anchor="ctr"/>
          <a:lstStyle/>
          <a:p>
            <a:pPr indent="0" marL="0">
              <a:buNone/>
            </a:pPr>
            <a:r>
              <a:rPr lang="en-US" sz="1000" dirty="0">
                <a:solidFill>
                  <a:schemeClr val="tx2"/>
                </a:solidFill>
              </a:rPr>
              <a:t>WAPE (geriye dönük test; mevsimsel naif: %…)</a:t>
            </a:r>
            <a:endParaRPr lang="en-US" sz="1200" dirty="0"/>
          </a:p>
        </p:txBody>
      </p:sp>
      <p:sp>
        <p:nvSpPr>
          <p:cNvPr id="8" name="card_bias"/>
          <p:cNvSpPr/>
          <p:nvPr/>
        </p:nvSpPr>
        <p:spPr>
          <a:xfrm>
            <a:off x="6766560" y="1965960"/>
            <a:ext cx="1920240" cy="914400"/>
          </a:xfrm>
          <a:prstGeom prst="roundRect">
            <a:avLst>
              <a:gd name="adj" fmla="val 5926"/>
            </a:avLst>
          </a:prstGeom>
          <a:solidFill>
            <a:schemeClr val="bg2"/>
          </a:solidFill>
          <a:ln w="12700">
            <a:solidFill>
              <a:schemeClr val="bg2"/>
            </a:solidFill>
            <a:prstDash val="solid"/>
          </a:ln>
        </p:spPr>
        <p:txBody>
          <a:bodyPr/>
          <a:p/>
        </p:txBody>
      </p:sp>
      <p:sp>
        <p:nvSpPr>
          <p:cNvPr id="9" name="card_bias_value"/>
          <p:cNvSpPr txBox="1"/>
          <p:nvPr/>
        </p:nvSpPr>
        <p:spPr>
          <a:xfrm>
            <a:off x="6903720" y="2011680"/>
            <a:ext cx="1645920" cy="438912"/>
          </a:xfrm>
          <a:prstGeom prst="rect">
            <a:avLst/>
          </a:prstGeom>
          <a:noFill/>
          <a:ln/>
        </p:spPr>
        <p:txBody>
          <a:bodyPr wrap="square" lIns="0" tIns="0" rIns="0" bIns="0" rtlCol="0" anchor="ctr"/>
          <a:lstStyle/>
          <a:p>
            <a:pPr indent="0" marL="0">
              <a:buNone/>
            </a:pPr>
            <a:r>
              <a:rPr lang="en-US" sz="2400" b="1" dirty="0">
                <a:solidFill>
                  <a:schemeClr val="accent1"/>
                </a:solidFill>
                <a:latin typeface="Calibri Light" pitchFamily="34" charset="0"/>
                <a:ea typeface="Calibri Light" pitchFamily="34" charset="-122"/>
                <a:cs typeface="Calibri Light" pitchFamily="34" charset="-120"/>
              </a:rPr>
              <a:t>%…</a:t>
            </a:r>
            <a:endParaRPr lang="en-US" sz="3200" dirty="0"/>
          </a:p>
        </p:txBody>
      </p:sp>
      <p:sp>
        <p:nvSpPr>
          <p:cNvPr id="10" name="card_bias_label"/>
          <p:cNvSpPr txBox="1"/>
          <p:nvPr/>
        </p:nvSpPr>
        <p:spPr>
          <a:xfrm>
            <a:off x="6903720" y="2450592"/>
            <a:ext cx="1691640" cy="384048"/>
          </a:xfrm>
          <a:prstGeom prst="rect">
            <a:avLst/>
          </a:prstGeom>
          <a:noFill/>
          <a:ln/>
        </p:spPr>
        <p:txBody>
          <a:bodyPr wrap="square" lIns="0" tIns="0" rIns="0" bIns="0" rtlCol="0" anchor="ctr"/>
          <a:lstStyle/>
          <a:p>
            <a:pPr indent="0" marL="0">
              <a:buNone/>
            </a:pPr>
            <a:r>
              <a:rPr lang="en-US" sz="1000" dirty="0">
                <a:solidFill>
                  <a:schemeClr val="tx2"/>
                </a:solidFill>
              </a:rPr>
              <a:t>Bias (geriye dönük test)</a:t>
            </a:r>
            <a:endParaRPr lang="en-US" sz="1200" dirty="0"/>
          </a:p>
        </p:txBody>
      </p:sp>
      <p:sp>
        <p:nvSpPr>
          <p:cNvPr id="11" name="model_note"/>
          <p:cNvSpPr txBox="1"/>
          <p:nvPr/>
        </p:nvSpPr>
        <p:spPr>
          <a:xfrm>
            <a:off x="594360" y="3977639"/>
            <a:ext cx="3749039" cy="502920"/>
          </a:xfrm>
          <a:prstGeom prst="rect">
            <a:avLst/>
          </a:prstGeom>
          <a:noFill/>
          <a:ln/>
        </p:spPr>
        <p:txBody>
          <a:bodyPr wrap="square" lIns="1524" tIns="1524" rIns="1524" bIns="1524" rtlCol="0" anchor="t"/>
          <a:lstStyle/>
          <a:p>
            <a:pPr indent="0" marL="0">
              <a:buNone/>
            </a:pPr>
            <a:r>
              <a:rPr lang="en-US" sz="1100" i="1" dirty="0">
                <a:solidFill>
                  <a:schemeClr val="accent2"/>
                </a:solidFill>
              </a:rPr>
              <a:t>Karşılaştırdığınız modeller, seçtiğiniz model ve kullandığı bilgi (tek cümle)</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2</a:t>
            </a:fld>
            <a:endParaRPr lang="en-US"/>
          </a:p>
        </p:txBody>
      </p:sp>
      <p:pic>
        <p:nvPicPr>
          <p:cNvPr id="27" name="koc_digital_logo" descr="logo_image7.png"/>
          <p:cNvPicPr>
            <a:picLocks noChangeAspect="1"/>
          </p:cNvPicPr>
          <p:nvPr/>
        </p:nvPicPr>
        <p:blipFill>
          <a:blip r:embed="rId4"/>
          <a:stretch>
            <a:fillRect/>
          </a:stretch>
        </p:blipFill>
        <p:spPr>
          <a:xfrm>
            <a:off x="457200" y="4773168"/>
            <a:ext cx="960120" cy="204026"/>
          </a:xfrm>
          <a:prstGeom prst="rect">
            <a:avLst/>
          </a:prstGeom>
        </p:spPr>
      </p:pic>
      <p:sp>
        <p:nvSpPr>
          <p:cNvPr id="28" name="recommendation_box"/>
          <p:cNvSpPr/>
          <p:nvPr/>
        </p:nvSpPr>
        <p:spPr>
          <a:xfrm>
            <a:off x="457200" y="1024128"/>
            <a:ext cx="8229600" cy="786384"/>
          </a:xfrm>
          <a:prstGeom prst="roundRect">
            <a:avLst>
              <a:gd name="adj" fmla="val 5161"/>
            </a:avLst>
          </a:prstGeom>
          <a:solidFill>
            <a:schemeClr val="bg2"/>
          </a:solidFill>
          <a:ln w="12700">
            <a:solidFill>
              <a:schemeClr val="bg2"/>
            </a:solidFill>
            <a:prstDash val="solid"/>
          </a:ln>
        </p:spPr>
        <p:txBody>
          <a:bodyPr/>
          <a:p/>
        </p:txBody>
      </p:sp>
      <p:sp>
        <p:nvSpPr>
          <p:cNvPr id="29" name="recommendation_text"/>
          <p:cNvSpPr txBox="1"/>
          <p:nvPr/>
        </p:nvSpPr>
        <p:spPr>
          <a:xfrm>
            <a:off x="594360" y="1069848"/>
            <a:ext cx="7955279" cy="694944"/>
          </a:xfrm>
          <a:prstGeom prst="rect">
            <a:avLst/>
          </a:prstGeom>
          <a:noFill/>
          <a:ln/>
        </p:spPr>
        <p:txBody>
          <a:bodyPr wrap="square" lIns="1524" tIns="1524" rIns="1524" bIns="1524" rtlCol="0" anchor="t"/>
          <a:lstStyle/>
          <a:p>
            <a:pPr indent="0" marL="0">
              <a:buNone/>
            </a:pPr>
            <a:r>
              <a:rPr lang="en-US" sz="1400" i="1" dirty="0">
                <a:solidFill>
                  <a:schemeClr val="accent2"/>
                </a:solidFill>
              </a:rPr>
              <a:t>Önerinizi tek cümleyle ve sayılarıyla yazın: Nimbus Dynamics birinci çeyrekte hatta ne yapmalı, ACİL sipariş için ne öneriyorsunuz ve ek maliyeti ne?</a:t>
            </a:r>
            <a:endParaRPr lang="en-US" sz="1800" dirty="0"/>
          </a:p>
        </p:txBody>
      </p:sp>
      <p:graphicFrame>
        <p:nvGraphicFramePr>
          <p:cNvPr id="30" name="capacity_table"/>
          <p:cNvGraphicFramePr>
            <a:graphicFrameLocks noGrp="1"/>
          </p:cNvGraphicFramePr>
          <p:nvPr>
            <p:extLst>
              <p:ext uri="{D42A27DB-BD31-4B8C-83A1-F6EECF244321}">
                <p14:modId xmlns:p14="http://schemas.microsoft.com/office/powerpoint/2010/main" val="1579011935"/>
              </p:ext>
            </p:extLst>
          </p:nvPr>
        </p:nvGraphicFramePr>
        <p:xfrm>
          <a:off x="4663440" y="3063240"/>
          <a:ext cx="4023359" cy="1280160"/>
        </p:xfrm>
        <a:graphic>
          <a:graphicData uri="http://schemas.openxmlformats.org/drawingml/2006/table">
            <a:tbl>
              <a:tblPr/>
              <a:tblGrid>
                <a:gridCol w="868680"/>
                <a:gridCol w="1325880"/>
                <a:gridCol w="777240"/>
                <a:gridCol w="1051560"/>
              </a:tblGrid>
              <a:tr h="457200">
                <a:tc>
                  <a:txBody>
                    <a:bodyPr/>
                    <a:lstStyle/>
                    <a:p>
                      <a:pPr indent="0" marL="0">
                        <a:buNone/>
                      </a:pPr>
                      <a:r>
                        <a:rPr lang="en-US" sz="1100" b="1" dirty="0">
                          <a:solidFill>
                            <a:schemeClr val="bg1"/>
                          </a:solidFill>
                        </a:rPr>
                        <a:t>Ay</a:t>
                      </a: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Planlanan üretim (adet)</a:t>
                      </a: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Takt süresi (sn)</a:t>
                      </a: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Alt sınır (bu ayın takt süresiyle)</a:t>
                      </a: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solidFill>
                      <a:schemeClr val="tx1"/>
                    </a:solidFill>
                  </a:tcPr>
                </a:tc>
              </a:tr>
              <a:tr h="274320">
                <a:tc>
                  <a:txBody>
                    <a:bodyPr/>
                    <a:lstStyle/>
                    <a:p>
                      <a:pPr indent="0" marL="0">
                        <a:buNone/>
                      </a:pPr>
                      <a:r>
                        <a:rPr lang="en-US" sz="1100" dirty="0">
                          <a:solidFill>
                            <a:schemeClr val="tx1"/>
                          </a:solidFill>
                        </a:rPr>
                        <a:t>Ocak</a:t>
                      </a: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pP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pP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pP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r>
              <a:tr h="274320">
                <a:tc>
                  <a:txBody>
                    <a:bodyPr/>
                    <a:lstStyle/>
                    <a:p>
                      <a:pPr indent="0" marL="0">
                        <a:buNone/>
                      </a:pPr>
                      <a:r>
                        <a:rPr lang="en-US" sz="1100" dirty="0">
                          <a:solidFill>
                            <a:schemeClr val="tx1"/>
                          </a:solidFill>
                        </a:rPr>
                        <a:t>Şubat</a:t>
                      </a: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pP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pP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pP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r>
              <a:tr h="274320">
                <a:tc>
                  <a:txBody>
                    <a:bodyPr/>
                    <a:lstStyle/>
                    <a:p>
                      <a:pPr indent="0" marL="0">
                        <a:buNone/>
                      </a:pPr>
                      <a:r>
                        <a:rPr lang="en-US" sz="1100" dirty="0">
                          <a:solidFill>
                            <a:schemeClr val="tx1"/>
                          </a:solidFill>
                        </a:rPr>
                        <a:t>Mart</a:t>
                      </a: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pP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pP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pPr>
                      <a:endParaRPr lang="en-US" sz="12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6" name="content_background" descr="image6.png"/>
          <p:cNvPicPr>
            <a:picLocks noChangeAspect="1"/>
          </p:cNvPicPr>
          <p:nvPr/>
        </p:nvPicPr>
        <p:blipFill>
          <a:blip r:embed="rId3"/>
          <a:stretch>
            <a:fillRect/>
          </a:stretch>
        </p:blipFill>
        <p:spPr>
          <a:xfrm>
            <a:off x="0" y="0"/>
            <a:ext cx="9144000" cy="5143500"/>
          </a:xfrm>
          <a:prstGeom prst="rect">
            <a:avLst/>
          </a:prstGeom>
        </p:spPr>
      </p:pic>
      <p:sp>
        <p:nvSpPr>
          <p:cNvPr id="2" name="Text 0"/>
          <p:cNvSpPr/>
          <p:nvPr>
            <p:ph idx="100" type="title" hasCustomPrompt="1"/>
          </p:nvPr>
        </p:nvSpPr>
        <p:spPr>
          <a:xfrm>
            <a:off x="685800" y="274320"/>
            <a:ext cx="7315200" cy="685800"/>
          </a:xfrm>
          <a:prstGeom prst="rect">
            <a:avLst/>
          </a:prstGeom>
          <a:noFill/>
          <a:ln/>
        </p:spPr>
        <p:txBody>
          <a:bodyPr wrap="square" lIns="0" tIns="0" rIns="0" bIns="0" rtlCol="0" anchor="ctr"/>
          <a:lstStyle/>
          <a:p>
            <a:pPr algn="l" indent="0" marL="0">
              <a:buNone/>
            </a:pPr>
            <a:r>
              <a:rPr lang="en-US" sz="3000" b="1" dirty="0">
                <a:solidFill>
                  <a:srgbClr val="142A3F"/>
                </a:solidFill>
              </a:rPr>
              <a:t>Hat tasarımı</a:t>
            </a:r>
            <a:endParaRPr lang="en-US" sz="3000" dirty="0"/>
          </a:p>
        </p:txBody>
      </p:sp>
      <p:graphicFrame>
        <p:nvGraphicFramePr>
          <p:cNvPr id="6" name="station_table"/>
          <p:cNvGraphicFramePr>
            <a:graphicFrameLocks noGrp="1"/>
          </p:cNvGraphicFramePr>
          <p:nvPr>
            <p:extLst>
              <p:ext uri="{D42A27DB-BD31-4B8C-83A1-F6EECF244321}">
                <p14:modId xmlns:p14="http://schemas.microsoft.com/office/powerpoint/2010/main" val="1579011935"/>
              </p:ext>
            </p:extLst>
          </p:nvPr>
        </p:nvGraphicFramePr>
        <p:xfrm>
          <a:off x="457200" y="1097280"/>
          <a:ext cx="5120639" cy="2743200"/>
        </p:xfrm>
        <a:graphic>
          <a:graphicData uri="http://schemas.openxmlformats.org/drawingml/2006/table">
            <a:tbl>
              <a:tblPr/>
              <a:tblGrid>
                <a:gridCol w="411480"/>
                <a:gridCol w="1143000"/>
                <a:gridCol w="914400"/>
                <a:gridCol w="777240"/>
                <a:gridCol w="1874519"/>
              </a:tblGrid>
              <a:tr h="274320">
                <a:tc>
                  <a:txBody>
                    <a:bodyPr/>
                    <a:lstStyle/>
                    <a:p>
                      <a:pPr indent="0" marL="0">
                        <a:buNone/>
                        <a:defRPr sz="1100"/>
                      </a:pPr>
                      <a:r>
                        <a:rPr lang="en-US" sz="1100" b="1" dirty="0">
                          <a:solidFill>
                            <a:schemeClr val="bg1"/>
                          </a:solidFill>
                        </a:rPr>
                        <a:t>İst.</a:t>
                      </a: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solidFill>
                      <a:schemeClr val="tx1"/>
                    </a:solidFill>
                  </a:tcPr>
                </a:tc>
                <a:tc>
                  <a:txBody>
                    <a:bodyPr/>
                    <a:lstStyle/>
                    <a:p>
                      <a:pPr indent="0" marL="0">
                        <a:buNone/>
                        <a:defRPr sz="1100"/>
                      </a:pPr>
                      <a:r>
                        <a:rPr lang="en-US" sz="1100" b="1" dirty="0">
                          <a:solidFill>
                            <a:schemeClr val="bg1"/>
                          </a:solidFill>
                        </a:rPr>
                        <a:t>İşler</a:t>
                      </a: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solidFill>
                      <a:schemeClr val="tx1"/>
                    </a:solidFill>
                  </a:tcPr>
                </a:tc>
                <a:tc>
                  <a:txBody>
                    <a:bodyPr/>
                    <a:lstStyle/>
                    <a:p>
                      <a:pPr indent="0" marL="0">
                        <a:buNone/>
                        <a:defRPr sz="1100"/>
                      </a:pPr>
                      <a:r>
                        <a:rPr lang="en-US" sz="1100" b="1" dirty="0">
                          <a:solidFill>
                            <a:schemeClr val="bg1"/>
                          </a:solidFill>
                        </a:rPr>
                        <a:t>Ağırlıklı yük (sn)</a:t>
                      </a: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solidFill>
                      <a:schemeClr val="tx1"/>
                    </a:solidFill>
                  </a:tcPr>
                </a:tc>
                <a:tc>
                  <a:txBody>
                    <a:bodyPr/>
                    <a:lstStyle/>
                    <a:p>
                      <a:pPr indent="0" marL="0">
                        <a:buNone/>
                        <a:defRPr sz="1100"/>
                      </a:pPr>
                      <a:r>
                        <a:rPr lang="en-US" sz="1100" b="1" dirty="0">
                          <a:solidFill>
                            <a:schemeClr val="bg1"/>
                          </a:solidFill>
                        </a:rPr>
                        <a:t>En uzun ürün süresi (sn)</a:t>
                      </a: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solidFill>
                      <a:schemeClr val="tx1"/>
                    </a:solidFill>
                  </a:tcPr>
                </a:tc>
                <a:tc>
                  <a:txBody>
                    <a:bodyPr/>
                    <a:lstStyle/>
                    <a:p>
                      <a:pPr indent="0" marL="0">
                        <a:buNone/>
                        <a:defRPr sz="1100"/>
                      </a:pPr>
                      <a:r>
                        <a:rPr lang="en-US" sz="1100" b="1" dirty="0">
                          <a:solidFill>
                            <a:schemeClr val="bg1"/>
                          </a:solidFill>
                        </a:rPr>
                        <a:t>Süreç grupları</a:t>
                      </a: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solidFill>
                      <a:schemeClr val="tx1"/>
                    </a:solidFill>
                  </a:tcPr>
                </a:tc>
              </a:tr>
              <a:tr h="274320">
                <a:tc>
                  <a:txBody>
                    <a:bodyPr/>
                    <a:lstStyle/>
                    <a:p>
                      <a:pPr indent="0" marL="0">
                        <a:buNone/>
                        <a:defRPr sz="1100"/>
                      </a:pPr>
                      <a:r>
                        <a:rPr lang="en-US" sz="1100" dirty="0">
                          <a:solidFill>
                            <a:schemeClr val="tx1"/>
                          </a:solidFill>
                        </a:rPr>
                        <a:t>1</a:t>
                      </a: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r>
              <a:tr h="274320">
                <a:tc>
                  <a:txBody>
                    <a:bodyPr/>
                    <a:lstStyle/>
                    <a:p>
                      <a:pPr indent="0" marL="0">
                        <a:buNone/>
                        <a:defRPr sz="1100"/>
                      </a:pPr>
                      <a:r>
                        <a:rPr lang="en-US" sz="1100" dirty="0">
                          <a:solidFill>
                            <a:schemeClr val="tx1"/>
                          </a:solidFill>
                        </a:rPr>
                        <a:t>2</a:t>
                      </a: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r>
              <a:tr h="274320">
                <a:tc>
                  <a:txBody>
                    <a:bodyPr/>
                    <a:lstStyle/>
                    <a:p>
                      <a:pPr indent="0" marL="0">
                        <a:buNone/>
                        <a:defRPr sz="1100"/>
                      </a:pPr>
                      <a:r>
                        <a:rPr lang="en-US" sz="1100" dirty="0">
                          <a:solidFill>
                            <a:schemeClr val="tx1"/>
                          </a:solidFill>
                        </a:rPr>
                        <a:t>3</a:t>
                      </a: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r>
              <a:tr h="274320">
                <a:tc>
                  <a:txBody>
                    <a:bodyPr/>
                    <a:lstStyle/>
                    <a:p>
                      <a:pPr indent="0" marL="0">
                        <a:buNone/>
                        <a:defRPr sz="1100"/>
                      </a:pPr>
                      <a:r>
                        <a:rPr lang="en-US" sz="1100" dirty="0">
                          <a:solidFill>
                            <a:schemeClr val="tx1"/>
                          </a:solidFill>
                        </a:rPr>
                        <a:t>4</a:t>
                      </a: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r>
              <a:tr h="274320">
                <a:tc>
                  <a:txBody>
                    <a:bodyPr/>
                    <a:lstStyle/>
                    <a:p>
                      <a:pPr indent="0" marL="0">
                        <a:buNone/>
                        <a:defRPr sz="1100"/>
                      </a:pPr>
                      <a:r>
                        <a:rPr lang="en-US" sz="1100" dirty="0">
                          <a:solidFill>
                            <a:schemeClr val="tx1"/>
                          </a:solidFill>
                        </a:rPr>
                        <a:t>5</a:t>
                      </a: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r>
              <a:tr h="274320">
                <a:tc>
                  <a:txBody>
                    <a:bodyPr/>
                    <a:lstStyle/>
                    <a:p>
                      <a:pPr indent="0" marL="0">
                        <a:buNone/>
                        <a:defRPr sz="1100"/>
                      </a:pPr>
                      <a:r>
                        <a:rPr lang="en-US" sz="1100" dirty="0">
                          <a:solidFill>
                            <a:schemeClr val="tx1"/>
                          </a:solidFill>
                        </a:rPr>
                        <a:t>6</a:t>
                      </a: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r>
              <a:tr h="274320">
                <a:tc>
                  <a:txBody>
                    <a:bodyPr/>
                    <a:lstStyle/>
                    <a:p>
                      <a:pPr indent="0" marL="0">
                        <a:buNone/>
                        <a:defRPr sz="1100"/>
                      </a:pPr>
                      <a:r>
                        <a:rPr lang="en-US" sz="1100" dirty="0">
                          <a:solidFill>
                            <a:schemeClr val="tx1"/>
                          </a:solidFill>
                        </a:rPr>
                        <a:t>7</a:t>
                      </a: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r>
              <a:tr h="274320">
                <a:tc>
                  <a:txBody>
                    <a:bodyPr/>
                    <a:lstStyle/>
                    <a:p>
                      <a:pPr indent="0" marL="0">
                        <a:buNone/>
                        <a:defRPr sz="1100"/>
                      </a:pPr>
                      <a:r>
                        <a:rPr lang="en-US" sz="1100" dirty="0">
                          <a:solidFill>
                            <a:schemeClr val="tx1"/>
                          </a:solidFill>
                        </a:rPr>
                        <a:t>8</a:t>
                      </a: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r>
              <a:tr h="274320">
                <a:tc>
                  <a:txBody>
                    <a:bodyPr/>
                    <a:lstStyle/>
                    <a:p>
                      <a:pPr indent="0" marL="0">
                        <a:buNone/>
                        <a:defRPr sz="1100"/>
                      </a:pPr>
                      <a:r>
                        <a:rPr lang="en-US" sz="1100" dirty="0">
                          <a:solidFill>
                            <a:schemeClr val="tx1"/>
                          </a:solidFill>
                        </a:rPr>
                        <a:t>9</a:t>
                      </a: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c>
                  <a:txBody>
                    <a:bodyPr/>
                    <a:lstStyle/>
                    <a:p>
                      <a:pPr indent="0" marL="0">
                        <a:buNone/>
                        <a:defRPr sz="1100"/>
                      </a:pPr>
                      <a:endParaRPr lang="en-US" sz="1100" dirty="0"/>
                    </a:p>
                  </a:txBody>
                  <a:tcPr marL="91440" marR="91440" marT="45720" marB="45720">
                    <a:lnL w="6350" cap="flat" cmpd="sng" algn="ctr">
                      <a:solidFill>
                        <a:srgbClr val="C8D2DC"/>
                      </a:solidFill>
                      <a:prstDash val="solid"/>
                      <a:round/>
                      <a:headEnd type="none" w="med" len="med"/>
                      <a:tailEnd type="none" w="med" len="med"/>
                    </a:lnL>
                    <a:lnR w="6350" cap="flat" cmpd="sng" algn="ctr">
                      <a:solidFill>
                        <a:srgbClr val="C8D2DC"/>
                      </a:solidFill>
                      <a:prstDash val="solid"/>
                      <a:round/>
                      <a:headEnd type="none" w="med" len="med"/>
                      <a:tailEnd type="none" w="med" len="med"/>
                    </a:lnR>
                    <a:lnT w="6350" cap="flat" cmpd="sng" algn="ctr">
                      <a:solidFill>
                        <a:srgbClr val="C8D2DC"/>
                      </a:solidFill>
                      <a:prstDash val="solid"/>
                      <a:round/>
                      <a:headEnd type="none" w="med" len="med"/>
                      <a:tailEnd type="none" w="med" len="med"/>
                    </a:lnT>
                    <a:lnB w="6350" cap="flat" cmpd="sng" algn="ctr">
                      <a:solidFill>
                        <a:srgbClr val="C8D2DC"/>
                      </a:solidFill>
                      <a:prstDash val="solid"/>
                      <a:round/>
                      <a:headEnd type="none" w="med" len="med"/>
                      <a:tailEnd type="none" w="med" len="med"/>
                    </a:lnB>
                  </a:tcPr>
                </a:tc>
              </a:tr>
            </a:tbl>
          </a:graphicData>
        </a:graphic>
      </p:graphicFrame>
      <p:sp>
        <p:nvSpPr>
          <p:cNvPr id="4" name="why_box"/>
          <p:cNvSpPr/>
          <p:nvPr/>
        </p:nvSpPr>
        <p:spPr>
          <a:xfrm>
            <a:off x="5852160" y="1097280"/>
            <a:ext cx="2834640" cy="3429000"/>
          </a:xfrm>
          <a:prstGeom prst="roundRect">
            <a:avLst>
              <a:gd name="adj" fmla="val 2581"/>
            </a:avLst>
          </a:prstGeom>
          <a:solidFill>
            <a:schemeClr val="bg2"/>
          </a:solidFill>
          <a:ln w="12700">
            <a:solidFill>
              <a:schemeClr val="bg2"/>
            </a:solidFill>
            <a:prstDash val="solid"/>
          </a:ln>
        </p:spPr>
        <p:txBody>
          <a:bodyPr/>
          <a:p/>
        </p:txBody>
      </p:sp>
      <p:sp>
        <p:nvSpPr>
          <p:cNvPr id="5" name="why_title"/>
          <p:cNvSpPr txBox="1"/>
          <p:nvPr/>
        </p:nvSpPr>
        <p:spPr>
          <a:xfrm>
            <a:off x="6035040" y="1188720"/>
            <a:ext cx="2560320" cy="365760"/>
          </a:xfrm>
          <a:prstGeom prst="rect">
            <a:avLst/>
          </a:prstGeom>
          <a:noFill/>
          <a:ln/>
        </p:spPr>
        <p:txBody>
          <a:bodyPr wrap="square" lIns="0" tIns="0" rIns="0" bIns="0" rtlCol="0" anchor="ctr"/>
          <a:lstStyle/>
          <a:p>
            <a:pPr indent="0" marL="0">
              <a:buNone/>
            </a:pPr>
            <a:r>
              <a:rPr lang="en-US" sz="1600" b="1" dirty="0">
                <a:solidFill>
                  <a:schemeClr val="tx1"/>
                </a:solidFill>
              </a:rPr>
              <a:t>Neden bu hat?</a:t>
            </a:r>
            <a:endParaRPr lang="en-US" sz="1600" dirty="0"/>
          </a:p>
        </p:txBody>
      </p:sp>
      <p:sp>
        <p:nvSpPr>
          <p:cNvPr id="6" name="why_text"/>
          <p:cNvSpPr txBox="1"/>
          <p:nvPr/>
        </p:nvSpPr>
        <p:spPr>
          <a:xfrm>
            <a:off x="5897880" y="1600200"/>
            <a:ext cx="2743200" cy="2834640"/>
          </a:xfrm>
          <a:prstGeom prst="rect">
            <a:avLst/>
          </a:prstGeom>
          <a:noFill/>
          <a:ln/>
        </p:spPr>
        <p:txBody>
          <a:bodyPr wrap="square" lIns="1524" tIns="1524" rIns="1524" bIns="1524" rtlCol="0" anchor="t"/>
          <a:lstStyle/>
          <a:p>
            <a:pPr indent="0" marL="0">
              <a:buNone/>
            </a:pPr>
            <a:r>
              <a:rPr lang="en-US" sz="1300" i="1" dirty="0">
                <a:solidFill>
                  <a:schemeClr val="accent2"/>
                </a:solidFill>
              </a:rPr>
              <a:t>Mevcut hat nerede, neden yetersiz kalıyor? Alt sınır ne diyor, modeliniz ne buldu? En yoğun istasyon ne kadar yüklü; bu istasyon sayısıyla daha hafif olabilir mi? Bütün hat kuralları sağlanıyor mu?</a:t>
            </a:r>
            <a:endParaRPr lang="en-US" sz="1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3</a:t>
            </a:fld>
            <a:endParaRPr lang="en-US"/>
          </a:p>
        </p:txBody>
      </p:sp>
      <p:pic>
        <p:nvPicPr>
          <p:cNvPr id="27" name="koc_digital_logo" descr="logo_image7.png"/>
          <p:cNvPicPr>
            <a:picLocks noChangeAspect="1"/>
          </p:cNvPicPr>
          <p:nvPr/>
        </p:nvPicPr>
        <p:blipFill>
          <a:blip r:embed="rId4"/>
          <a:stretch>
            <a:fillRect/>
          </a:stretch>
        </p:blipFill>
        <p:spPr>
          <a:xfrm>
            <a:off x="457200" y="4773168"/>
            <a:ext cx="960120" cy="20402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6" name="content_background" descr="image6.png"/>
          <p:cNvPicPr>
            <a:picLocks noChangeAspect="1"/>
          </p:cNvPicPr>
          <p:nvPr/>
        </p:nvPicPr>
        <p:blipFill>
          <a:blip r:embed="rId3"/>
          <a:stretch>
            <a:fillRect/>
          </a:stretch>
        </p:blipFill>
        <p:spPr>
          <a:xfrm>
            <a:off x="0" y="0"/>
            <a:ext cx="9144000" cy="5143500"/>
          </a:xfrm>
          <a:prstGeom prst="rect">
            <a:avLst/>
          </a:prstGeom>
        </p:spPr>
      </p:pic>
      <p:sp>
        <p:nvSpPr>
          <p:cNvPr id="2" name="Text 0"/>
          <p:cNvSpPr/>
          <p:nvPr>
            <p:ph idx="100" type="title" hasCustomPrompt="1"/>
          </p:nvPr>
        </p:nvSpPr>
        <p:spPr>
          <a:xfrm>
            <a:off x="685800" y="274320"/>
            <a:ext cx="7315200" cy="685800"/>
          </a:xfrm>
          <a:prstGeom prst="rect">
            <a:avLst/>
          </a:prstGeom>
          <a:noFill/>
          <a:ln/>
        </p:spPr>
        <p:txBody>
          <a:bodyPr wrap="square" lIns="0" tIns="0" rIns="0" bIns="0" rtlCol="0" anchor="ctr"/>
          <a:lstStyle/>
          <a:p>
            <a:pPr algn="l" indent="0" marL="0">
              <a:buNone/>
            </a:pPr>
            <a:r>
              <a:rPr lang="en-US" sz="3000" b="1" dirty="0">
                <a:solidFill>
                  <a:srgbClr val="142A3F"/>
                </a:solidFill>
              </a:rPr>
              <a:t>ACİL sipariş: önerimiz</a:t>
            </a:r>
            <a:endParaRPr lang="en-US" sz="3000" dirty="0"/>
          </a:p>
        </p:txBody>
      </p:sp>
      <p:sp>
        <p:nvSpPr>
          <p:cNvPr id="3" name="option_station"/>
          <p:cNvSpPr/>
          <p:nvPr/>
        </p:nvSpPr>
        <p:spPr>
          <a:xfrm>
            <a:off x="457200" y="1097280"/>
            <a:ext cx="4023360" cy="1965960"/>
          </a:xfrm>
          <a:prstGeom prst="roundRect">
            <a:avLst>
              <a:gd name="adj" fmla="val 3721"/>
            </a:avLst>
          </a:prstGeom>
          <a:solidFill>
            <a:schemeClr val="bg2"/>
          </a:solidFill>
          <a:ln w="12700">
            <a:solidFill>
              <a:schemeClr val="bg2"/>
            </a:solidFill>
            <a:prstDash val="solid"/>
          </a:ln>
        </p:spPr>
        <p:txBody>
          <a:bodyPr/>
          <a:p/>
        </p:txBody>
      </p:sp>
      <p:sp>
        <p:nvSpPr>
          <p:cNvPr id="4" name="option_station_title"/>
          <p:cNvSpPr txBox="1"/>
          <p:nvPr/>
        </p:nvSpPr>
        <p:spPr>
          <a:xfrm>
            <a:off x="640080" y="1188720"/>
            <a:ext cx="365760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libri Light" pitchFamily="34" charset="0"/>
                <a:ea typeface="Calibri Light" pitchFamily="34" charset="-122"/>
                <a:cs typeface="Calibri Light" pitchFamily="34" charset="-120"/>
              </a:rPr>
              <a:t>Ek istasyon</a:t>
            </a:r>
            <a:endParaRPr lang="en-US" sz="1800" dirty="0"/>
          </a:p>
        </p:txBody>
      </p:sp>
      <p:sp>
        <p:nvSpPr>
          <p:cNvPr id="5" name="option_station_text"/>
          <p:cNvSpPr txBox="1"/>
          <p:nvPr/>
        </p:nvSpPr>
        <p:spPr>
          <a:xfrm>
            <a:off x="502920" y="1600200"/>
            <a:ext cx="3931920" cy="1371600"/>
          </a:xfrm>
          <a:prstGeom prst="rect">
            <a:avLst/>
          </a:prstGeom>
          <a:noFill/>
          <a:ln/>
        </p:spPr>
        <p:txBody>
          <a:bodyPr wrap="square" lIns="1524" tIns="1524" rIns="1524" bIns="1524" rtlCol="0" anchor="t"/>
          <a:lstStyle/>
          <a:p>
            <a:pPr indent="0" marL="0">
              <a:buNone/>
            </a:pPr>
            <a:r>
              <a:rPr lang="en-US" sz="1400" i="1" dirty="0">
                <a:solidFill>
                  <a:schemeClr val="accent2"/>
                </a:solidFill>
              </a:rPr>
              <a:t>Maliyet: … €</a:t>
            </a:r>
            <a:endParaRPr lang="en-US" sz="1400" dirty="0"/>
          </a:p>
          <a:p>
            <a:pPr indent="0" marL="0">
              <a:buNone/>
            </a:pPr>
            <a:r>
              <a:rPr lang="en-US" sz="1400" i="1" dirty="0">
                <a:solidFill>
                  <a:schemeClr val="accent2"/>
                </a:solidFill>
              </a:rPr>
              <a:t>Kalan kapasite (adet): …</a:t>
            </a:r>
            <a:endParaRPr lang="en-US" sz="1400" dirty="0"/>
          </a:p>
          <a:p>
            <a:pPr indent="0" marL="0">
              <a:buNone/>
            </a:pPr>
            <a:r>
              <a:rPr lang="en-US" sz="1400" i="1" dirty="0">
                <a:solidFill>
                  <a:schemeClr val="accent2"/>
                </a:solidFill>
              </a:rPr>
              <a:t>Risk: …</a:t>
            </a:r>
            <a:endParaRPr lang="en-US" sz="1400" dirty="0"/>
          </a:p>
        </p:txBody>
      </p:sp>
      <p:sp>
        <p:nvSpPr>
          <p:cNvPr id="6" name="option_prebuild"/>
          <p:cNvSpPr/>
          <p:nvPr/>
        </p:nvSpPr>
        <p:spPr>
          <a:xfrm>
            <a:off x="4663440" y="1097280"/>
            <a:ext cx="4023360" cy="1965960"/>
          </a:xfrm>
          <a:prstGeom prst="roundRect">
            <a:avLst>
              <a:gd name="adj" fmla="val 3721"/>
            </a:avLst>
          </a:prstGeom>
          <a:solidFill>
            <a:schemeClr val="bg2"/>
          </a:solidFill>
          <a:ln w="12700">
            <a:solidFill>
              <a:schemeClr val="bg2"/>
            </a:solidFill>
            <a:prstDash val="solid"/>
          </a:ln>
        </p:spPr>
        <p:txBody>
          <a:bodyPr/>
          <a:p/>
        </p:txBody>
      </p:sp>
      <p:sp>
        <p:nvSpPr>
          <p:cNvPr id="7" name="option_prebuild_title"/>
          <p:cNvSpPr txBox="1"/>
          <p:nvPr/>
        </p:nvSpPr>
        <p:spPr>
          <a:xfrm>
            <a:off x="4846320" y="1188720"/>
            <a:ext cx="365760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libri Light" pitchFamily="34" charset="0"/>
                <a:ea typeface="Calibri Light" pitchFamily="34" charset="-122"/>
                <a:cs typeface="Calibri Light" pitchFamily="34" charset="-120"/>
              </a:rPr>
              <a:t>Ocakta önden üretim</a:t>
            </a:r>
            <a:endParaRPr lang="en-US" sz="1800" dirty="0"/>
          </a:p>
        </p:txBody>
      </p:sp>
      <p:sp>
        <p:nvSpPr>
          <p:cNvPr id="8" name="option_prebuild_text"/>
          <p:cNvSpPr txBox="1"/>
          <p:nvPr/>
        </p:nvSpPr>
        <p:spPr>
          <a:xfrm>
            <a:off x="4709160" y="1600200"/>
            <a:ext cx="3931920" cy="1371600"/>
          </a:xfrm>
          <a:prstGeom prst="rect">
            <a:avLst/>
          </a:prstGeom>
          <a:noFill/>
          <a:ln/>
        </p:spPr>
        <p:txBody>
          <a:bodyPr wrap="square" lIns="1524" tIns="1524" rIns="1524" bIns="1524" rtlCol="0" anchor="t"/>
          <a:lstStyle/>
          <a:p>
            <a:pPr indent="0" marL="0">
              <a:buNone/>
            </a:pPr>
            <a:r>
              <a:rPr lang="en-US" sz="1400" i="1" dirty="0">
                <a:solidFill>
                  <a:schemeClr val="accent2"/>
                </a:solidFill>
              </a:rPr>
              <a:t>Adet: …</a:t>
            </a:r>
            <a:endParaRPr lang="en-US" sz="1400" dirty="0"/>
          </a:p>
          <a:p>
            <a:pPr indent="0" marL="0">
              <a:buNone/>
            </a:pPr>
            <a:r>
              <a:rPr lang="en-US" sz="1400" i="1" dirty="0">
                <a:solidFill>
                  <a:schemeClr val="accent2"/>
                </a:solidFill>
              </a:rPr>
              <a:t>Maliyet: … €</a:t>
            </a:r>
            <a:endParaRPr lang="en-US" sz="1400" dirty="0"/>
          </a:p>
          <a:p>
            <a:pPr indent="0" marL="0">
              <a:buNone/>
            </a:pPr>
            <a:r>
              <a:rPr lang="en-US" sz="1400" i="1" dirty="0">
                <a:solidFill>
                  <a:schemeClr val="accent2"/>
                </a:solidFill>
              </a:rPr>
              <a:t>Kalan kapasite (adet): …</a:t>
            </a:r>
            <a:endParaRPr lang="en-US" sz="1400" dirty="0"/>
          </a:p>
          <a:p>
            <a:pPr indent="0" marL="0">
              <a:buNone/>
            </a:pPr>
            <a:r>
              <a:rPr lang="en-US" sz="1400" i="1" dirty="0">
                <a:solidFill>
                  <a:schemeClr val="accent2"/>
                </a:solidFill>
              </a:rPr>
              <a:t>Risk: …</a:t>
            </a:r>
            <a:endParaRPr lang="en-US" sz="1400" dirty="0"/>
          </a:p>
        </p:txBody>
      </p:sp>
      <p:sp>
        <p:nvSpPr>
          <p:cNvPr id="9" name="decision_box"/>
          <p:cNvSpPr/>
          <p:nvPr/>
        </p:nvSpPr>
        <p:spPr>
          <a:xfrm>
            <a:off x="457200" y="3291840"/>
            <a:ext cx="8229600" cy="1234440"/>
          </a:xfrm>
          <a:prstGeom prst="roundRect">
            <a:avLst>
              <a:gd name="adj" fmla="val 5926"/>
            </a:avLst>
          </a:prstGeom>
          <a:solidFill>
            <a:schemeClr val="accent3"/>
          </a:solidFill>
          <a:ln w="12700">
            <a:solidFill>
              <a:schemeClr val="accent3"/>
            </a:solidFill>
            <a:prstDash val="solid"/>
          </a:ln>
        </p:spPr>
        <p:txBody>
          <a:bodyPr/>
          <a:p/>
        </p:txBody>
      </p:sp>
      <p:sp>
        <p:nvSpPr>
          <p:cNvPr id="10" name="decision_title"/>
          <p:cNvSpPr txBox="1"/>
          <p:nvPr/>
        </p:nvSpPr>
        <p:spPr>
          <a:xfrm>
            <a:off x="640080" y="3364992"/>
            <a:ext cx="7863840" cy="320040"/>
          </a:xfrm>
          <a:prstGeom prst="rect">
            <a:avLst/>
          </a:prstGeom>
          <a:noFill/>
          <a:ln/>
        </p:spPr>
        <p:txBody>
          <a:bodyPr wrap="square" lIns="0" tIns="0" rIns="0" bIns="0" rtlCol="0" anchor="ctr"/>
          <a:lstStyle/>
          <a:p>
            <a:pPr indent="0" marL="0">
              <a:buNone/>
            </a:pPr>
            <a:r>
              <a:rPr lang="en-US" sz="1600" b="1" dirty="0">
                <a:solidFill>
                  <a:schemeClr val="tx1"/>
                </a:solidFill>
              </a:rPr>
              <a:t>Önerimiz ve fikrimizi ne değiştirir</a:t>
            </a:r>
            <a:endParaRPr lang="en-US" sz="1600" dirty="0"/>
          </a:p>
        </p:txBody>
      </p:sp>
      <p:sp>
        <p:nvSpPr>
          <p:cNvPr id="11" name="decision_text"/>
          <p:cNvSpPr txBox="1"/>
          <p:nvPr/>
        </p:nvSpPr>
        <p:spPr>
          <a:xfrm>
            <a:off x="594360" y="3703320"/>
            <a:ext cx="7955280" cy="731520"/>
          </a:xfrm>
          <a:prstGeom prst="rect">
            <a:avLst/>
          </a:prstGeom>
          <a:noFill/>
          <a:ln/>
        </p:spPr>
        <p:txBody>
          <a:bodyPr wrap="square" lIns="1524" tIns="1524" rIns="1524" bIns="1524" rtlCol="0" anchor="t"/>
          <a:lstStyle/>
          <a:p>
            <a:pPr indent="0" marL="0">
              <a:buNone/>
            </a:pPr>
            <a:r>
              <a:rPr lang="en-US" sz="1400" i="1" dirty="0">
                <a:solidFill>
                  <a:schemeClr val="tx1"/>
                </a:solidFill>
              </a:rPr>
              <a:t>Ne öneriyorsunuz? Hangi durumda fikrinizi değiştirirsiniz, neyi izlemek gerekir? Modelin hangi sadeleştirmeleri sonucu etkileyebilir?</a:t>
            </a:r>
            <a:endParaRPr lang="en-US" sz="1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4</a:t>
            </a:fld>
            <a:endParaRPr lang="en-US"/>
          </a:p>
        </p:txBody>
      </p:sp>
      <p:pic>
        <p:nvPicPr>
          <p:cNvPr id="27" name="koc_digital_logo" descr="logo_image7.png"/>
          <p:cNvPicPr>
            <a:picLocks noChangeAspect="1"/>
          </p:cNvPicPr>
          <p:nvPr/>
        </p:nvPicPr>
        <p:blipFill>
          <a:blip r:embed="rId4"/>
          <a:stretch>
            <a:fillRect/>
          </a:stretch>
        </p:blipFill>
        <p:spPr>
          <a:xfrm>
            <a:off x="457200" y="4773168"/>
            <a:ext cx="960120" cy="204026"/>
          </a:xfrm>
          <a:prstGeom prst="rect">
            <a:avLst/>
          </a:prstGeom>
        </p:spPr>
      </p:pic>
    </p:spTree>
  </p:cSld>
  <p:clrMapOvr>
    <a:masterClrMapping/>
  </p:clrMapOvr>
</p:sld>
</file>

<file path=ppt/theme/theme1.xml><?xml version="1.0" encoding="utf-8"?>
<a:theme xmlns:a="http://schemas.openxmlformats.org/drawingml/2006/main" name="NovaDrive Graphite">
  <a:themeElements>
    <a:clrScheme name="NovaDrive Graphite">
      <a:dk1>
        <a:srgbClr val="1A2027"/>
      </a:dk1>
      <a:lt1>
        <a:srgbClr val="FFFFFF"/>
      </a:lt1>
      <a:dk2>
        <a:srgbClr val="1A2027"/>
      </a:dk2>
      <a:lt2>
        <a:srgbClr val="F4F6F8"/>
      </a:lt2>
      <a:accent1>
        <a:srgbClr val="142A3F"/>
      </a:accent1>
      <a:accent2>
        <a:srgbClr val="5A6470"/>
      </a:accent2>
      <a:accent3>
        <a:srgbClr val="C8D2DC"/>
      </a:accent3>
      <a:accent4>
        <a:srgbClr val="5A6470"/>
      </a:accent4>
      <a:accent5>
        <a:srgbClr val="9AA0A8"/>
      </a:accent5>
      <a:accent6>
        <a:srgbClr val="C8D2DC"/>
      </a:accent6>
      <a:hlink>
        <a:srgbClr val="142A3F"/>
      </a:hlink>
      <a:folHlink>
        <a:srgbClr val="142A3F"/>
      </a:folHlink>
    </a:clrScheme>
    <a:fontScheme name="NovaDrive Graphit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on the Line</dc:title>
  <dc:subject>PptxGenJS Presentation</dc:subject>
  <dc:creator>KoçDigital analitik ekibi</dc:creator>
  <cp:lastModifiedBy>KoçDigital analitik ekibi</cp:lastModifiedBy>
  <cp:revision>1</cp:revision>
  <dcterms:created xsi:type="dcterms:W3CDTF">2026-10-06T14:15:14Z</dcterms:created>
  <dcterms:modified xsi:type="dcterms:W3CDTF">2026-10-06T14:15:14Z</dcterms:modified>
</cp:coreProperties>
</file>